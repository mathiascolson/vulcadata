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  <p:sldMasterId id="2147483671" r:id="rId2"/>
  </p:sldMasterIdLst>
  <p:notesMasterIdLst>
    <p:notesMasterId r:id="rId1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9144000" cy="5143500" type="screen16x9"/>
  <p:notesSz cx="6858000" cy="9144000"/>
  <p:embeddedFontLst>
    <p:embeddedFont>
      <p:font typeface="Barlow" panose="00000500000000000000" pitchFamily="2" charset="0"/>
      <p:regular r:id="rId13"/>
      <p:bold r:id="rId14"/>
      <p:boldItalic r:id="rId15"/>
    </p:embeddedFont>
    <p:embeddedFont>
      <p:font typeface="Montserrat" pitchFamily="2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4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font" Target="fonts/font3.fntdata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font" Target="fonts/font7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2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a6416256a4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g3a6416256a4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a58d65c382_2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g3a58d65c382_2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a58d65c382_2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g3a58d65c382_2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91153d69aa_1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g391153d69aa_1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a6416256a4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g3a6416256a4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a9913600ba_3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g3a9913600ba_3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a6416256a4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g3a6416256a4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a6416256a4_0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g3a6416256a4_0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a6416256a4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g3a6416256a4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ctrTitle"/>
          </p:nvPr>
        </p:nvSpPr>
        <p:spPr>
          <a:xfrm>
            <a:off x="342900" y="1065213"/>
            <a:ext cx="3886200" cy="73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subTitle" idx="1"/>
          </p:nvPr>
        </p:nvSpPr>
        <p:spPr>
          <a:xfrm>
            <a:off x="685800" y="1943100"/>
            <a:ext cx="3200400" cy="8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lvl="0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>
            <a:spLocks noGrp="1"/>
          </p:cNvSpPr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body" idx="1"/>
          </p:nvPr>
        </p:nvSpPr>
        <p:spPr>
          <a:xfrm>
            <a:off x="228600" y="800100"/>
            <a:ext cx="4114800" cy="226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1pPr>
            <a:lvl2pPr marL="914400" lvl="1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2pPr>
            <a:lvl3pPr marL="1371600" lvl="2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3pPr>
            <a:lvl4pPr marL="1828800" lvl="3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4pPr>
            <a:lvl5pPr marL="2286000" lvl="4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»"/>
              <a:defRPr/>
            </a:lvl5pPr>
            <a:lvl6pPr marL="2743200" lvl="5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6pPr>
            <a:lvl7pPr marL="3200400" lvl="6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7pPr>
            <a:lvl8pPr marL="3657600" lvl="7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8pPr>
            <a:lvl9pPr marL="4114800" lvl="8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361156" y="2203450"/>
            <a:ext cx="3886200" cy="681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body" idx="1"/>
          </p:nvPr>
        </p:nvSpPr>
        <p:spPr>
          <a:xfrm>
            <a:off x="361156" y="1453357"/>
            <a:ext cx="3886200" cy="750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b" anchorCtr="0">
            <a:normAutofit/>
          </a:bodyPr>
          <a:lstStyle>
            <a:lvl1pPr marL="457200" lvl="0" indent="-228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 sz="1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900"/>
              <a:buNone/>
              <a:defRPr sz="9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800"/>
              <a:buNone/>
              <a:defRPr sz="8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700"/>
              <a:buNone/>
              <a:defRPr sz="7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>
            <a:spLocks noGrp="1"/>
          </p:cNvSpPr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/>
          <p:cNvSpPr txBox="1">
            <a:spLocks noGrp="1"/>
          </p:cNvSpPr>
          <p:nvPr>
            <p:ph type="body" idx="1"/>
          </p:nvPr>
        </p:nvSpPr>
        <p:spPr>
          <a:xfrm>
            <a:off x="228600" y="800100"/>
            <a:ext cx="2019300" cy="226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1pPr>
            <a:lvl2pPr marL="914400" lvl="1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2pPr>
            <a:lvl3pPr marL="1371600" lvl="2" indent="-2921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3pPr>
            <a:lvl4pPr marL="1828800" lvl="3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 sz="900"/>
            </a:lvl4pPr>
            <a:lvl5pPr marL="2286000" lvl="4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»"/>
              <a:defRPr sz="900"/>
            </a:lvl5pPr>
            <a:lvl6pPr marL="2743200" lvl="5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6pPr>
            <a:lvl7pPr marL="3200400" lvl="6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7pPr>
            <a:lvl8pPr marL="3657600" lvl="7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8pPr>
            <a:lvl9pPr marL="4114800" lvl="8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9pPr>
          </a:lstStyle>
          <a:p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body" idx="2"/>
          </p:nvPr>
        </p:nvSpPr>
        <p:spPr>
          <a:xfrm>
            <a:off x="2324100" y="800100"/>
            <a:ext cx="2019300" cy="226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1pPr>
            <a:lvl2pPr marL="914400" lvl="1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2pPr>
            <a:lvl3pPr marL="1371600" lvl="2" indent="-2921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3pPr>
            <a:lvl4pPr marL="1828800" lvl="3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 sz="900"/>
            </a:lvl4pPr>
            <a:lvl5pPr marL="2286000" lvl="4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»"/>
              <a:defRPr sz="900"/>
            </a:lvl5pPr>
            <a:lvl6pPr marL="2743200" lvl="5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6pPr>
            <a:lvl7pPr marL="3200400" lvl="6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7pPr>
            <a:lvl8pPr marL="3657600" lvl="7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8pPr>
            <a:lvl9pPr marL="4114800" lvl="8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9pPr>
          </a:lstStyle>
          <a:p>
            <a:endParaRPr/>
          </a:p>
        </p:txBody>
      </p:sp>
      <p:sp>
        <p:nvSpPr>
          <p:cNvPr id="82" name="Google Shape;82;p18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>
            <a:spLocks noGrp="1"/>
          </p:cNvSpPr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9"/>
          <p:cNvSpPr txBox="1">
            <a:spLocks noGrp="1"/>
          </p:cNvSpPr>
          <p:nvPr>
            <p:ph type="body" idx="1"/>
          </p:nvPr>
        </p:nvSpPr>
        <p:spPr>
          <a:xfrm>
            <a:off x="228600" y="767556"/>
            <a:ext cx="2020094" cy="319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b" anchorCtr="0">
            <a:normAutofit/>
          </a:bodyPr>
          <a:lstStyle>
            <a:lvl1pPr marL="457200" lvl="0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1pPr>
            <a:lvl2pPr marL="914400" lvl="1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 b="1"/>
            </a:lvl3pPr>
            <a:lvl4pPr marL="1828800" lvl="3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4pPr>
            <a:lvl5pPr marL="2286000" lvl="4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5pPr>
            <a:lvl6pPr marL="2743200" lvl="5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6pPr>
            <a:lvl7pPr marL="3200400" lvl="6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7pPr>
            <a:lvl8pPr marL="3657600" lvl="7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8pPr>
            <a:lvl9pPr marL="4114800" lvl="8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9pPr>
          </a:lstStyle>
          <a:p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body" idx="2"/>
          </p:nvPr>
        </p:nvSpPr>
        <p:spPr>
          <a:xfrm>
            <a:off x="228600" y="1087438"/>
            <a:ext cx="2020094" cy="1975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1pPr>
            <a:lvl2pPr marL="914400" lvl="1" indent="-2921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–"/>
              <a:defRPr sz="1000"/>
            </a:lvl2pPr>
            <a:lvl3pPr marL="1371600" lvl="2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3pPr>
            <a:lvl4pPr marL="1828800" lvl="3" indent="-279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–"/>
              <a:defRPr sz="800"/>
            </a:lvl4pPr>
            <a:lvl5pPr marL="2286000" lvl="4" indent="-279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»"/>
              <a:defRPr sz="800"/>
            </a:lvl5pPr>
            <a:lvl6pPr marL="2743200" lvl="5" indent="-279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6pPr>
            <a:lvl7pPr marL="3200400" lvl="6" indent="-279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7pPr>
            <a:lvl8pPr marL="3657600" lvl="7" indent="-279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8pPr>
            <a:lvl9pPr marL="4114800" lvl="8" indent="-279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body" idx="3"/>
          </p:nvPr>
        </p:nvSpPr>
        <p:spPr>
          <a:xfrm>
            <a:off x="2322513" y="767556"/>
            <a:ext cx="2020888" cy="319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b" anchorCtr="0">
            <a:normAutofit/>
          </a:bodyPr>
          <a:lstStyle>
            <a:lvl1pPr marL="457200" lvl="0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1pPr>
            <a:lvl2pPr marL="914400" lvl="1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 b="1"/>
            </a:lvl3pPr>
            <a:lvl4pPr marL="1828800" lvl="3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4pPr>
            <a:lvl5pPr marL="2286000" lvl="4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5pPr>
            <a:lvl6pPr marL="2743200" lvl="5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6pPr>
            <a:lvl7pPr marL="3200400" lvl="6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7pPr>
            <a:lvl8pPr marL="3657600" lvl="7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8pPr>
            <a:lvl9pPr marL="4114800" lvl="8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 b="1"/>
            </a:lvl9pPr>
          </a:lstStyle>
          <a:p>
            <a:endParaRPr/>
          </a:p>
        </p:txBody>
      </p:sp>
      <p:sp>
        <p:nvSpPr>
          <p:cNvPr id="90" name="Google Shape;90;p19"/>
          <p:cNvSpPr txBox="1">
            <a:spLocks noGrp="1"/>
          </p:cNvSpPr>
          <p:nvPr>
            <p:ph type="body" idx="4"/>
          </p:nvPr>
        </p:nvSpPr>
        <p:spPr>
          <a:xfrm>
            <a:off x="2322513" y="1087438"/>
            <a:ext cx="2020888" cy="1975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1pPr>
            <a:lvl2pPr marL="914400" lvl="1" indent="-2921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–"/>
              <a:defRPr sz="1000"/>
            </a:lvl2pPr>
            <a:lvl3pPr marL="1371600" lvl="2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 sz="900"/>
            </a:lvl3pPr>
            <a:lvl4pPr marL="1828800" lvl="3" indent="-279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–"/>
              <a:defRPr sz="800"/>
            </a:lvl4pPr>
            <a:lvl5pPr marL="2286000" lvl="4" indent="-279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»"/>
              <a:defRPr sz="800"/>
            </a:lvl5pPr>
            <a:lvl6pPr marL="2743200" lvl="5" indent="-279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6pPr>
            <a:lvl7pPr marL="3200400" lvl="6" indent="-279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7pPr>
            <a:lvl8pPr marL="3657600" lvl="7" indent="-279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8pPr>
            <a:lvl9pPr marL="4114800" lvl="8" indent="-279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•"/>
              <a:defRPr sz="800"/>
            </a:lvl9pPr>
          </a:lstStyle>
          <a:p>
            <a:endParaRPr/>
          </a:p>
        </p:txBody>
      </p:sp>
      <p:sp>
        <p:nvSpPr>
          <p:cNvPr id="91" name="Google Shape;91;p19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9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9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>
            <a:spLocks noGrp="1"/>
          </p:cNvSpPr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20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20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>
            <a:spLocks noGrp="1"/>
          </p:cNvSpPr>
          <p:nvPr>
            <p:ph type="title"/>
          </p:nvPr>
        </p:nvSpPr>
        <p:spPr>
          <a:xfrm>
            <a:off x="228600" y="136525"/>
            <a:ext cx="1504157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21"/>
          <p:cNvSpPr txBox="1">
            <a:spLocks noGrp="1"/>
          </p:cNvSpPr>
          <p:nvPr>
            <p:ph type="body" idx="1"/>
          </p:nvPr>
        </p:nvSpPr>
        <p:spPr>
          <a:xfrm>
            <a:off x="1787525" y="136525"/>
            <a:ext cx="2555875" cy="2926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330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1pPr>
            <a:lvl2pPr marL="914400" lvl="1" indent="-3175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2pPr>
            <a:lvl3pPr marL="1371600" lvl="2" indent="-30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3pPr>
            <a:lvl4pPr marL="1828800" lvl="3" indent="-2921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–"/>
              <a:defRPr sz="1000"/>
            </a:lvl4pPr>
            <a:lvl5pPr marL="2286000" lvl="4" indent="-2921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»"/>
              <a:defRPr sz="1000"/>
            </a:lvl5pPr>
            <a:lvl6pPr marL="2743200" lvl="5" indent="-2921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marL="3200400" lvl="6" indent="-2921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marL="3657600" lvl="7" indent="-2921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marL="4114800" lvl="8" indent="-2921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2"/>
          </p:nvPr>
        </p:nvSpPr>
        <p:spPr>
          <a:xfrm>
            <a:off x="228600" y="717550"/>
            <a:ext cx="1504157" cy="234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marL="914400" lvl="1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600"/>
              <a:buNone/>
              <a:defRPr sz="600"/>
            </a:lvl2pPr>
            <a:lvl3pPr marL="1371600" lvl="2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3pPr>
            <a:lvl4pPr marL="1828800" lvl="3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4pPr>
            <a:lvl5pPr marL="2286000" lvl="4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5pPr>
            <a:lvl6pPr marL="2743200" lvl="5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6pPr>
            <a:lvl7pPr marL="3200400" lvl="6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7pPr>
            <a:lvl8pPr marL="3657600" lvl="7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8pPr>
            <a:lvl9pPr marL="4114800" lvl="8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1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1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>
            <a:spLocks noGrp="1"/>
          </p:cNvSpPr>
          <p:nvPr>
            <p:ph type="title"/>
          </p:nvPr>
        </p:nvSpPr>
        <p:spPr>
          <a:xfrm>
            <a:off x="896144" y="2400300"/>
            <a:ext cx="2743200" cy="2833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2"/>
          <p:cNvSpPr>
            <a:spLocks noGrp="1"/>
          </p:cNvSpPr>
          <p:nvPr>
            <p:ph type="pic" idx="2"/>
          </p:nvPr>
        </p:nvSpPr>
        <p:spPr>
          <a:xfrm>
            <a:off x="896144" y="306388"/>
            <a:ext cx="2743200" cy="20574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>
            <a:spLocks noGrp="1"/>
          </p:cNvSpPr>
          <p:nvPr>
            <p:ph type="body" idx="1"/>
          </p:nvPr>
        </p:nvSpPr>
        <p:spPr>
          <a:xfrm>
            <a:off x="896144" y="2683669"/>
            <a:ext cx="2743200" cy="402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marL="914400" lvl="1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600"/>
              <a:buNone/>
              <a:defRPr sz="600"/>
            </a:lvl2pPr>
            <a:lvl3pPr marL="1371600" lvl="2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3pPr>
            <a:lvl4pPr marL="1828800" lvl="3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4pPr>
            <a:lvl5pPr marL="2286000" lvl="4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5pPr>
            <a:lvl6pPr marL="2743200" lvl="5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6pPr>
            <a:lvl7pPr marL="3200400" lvl="6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7pPr>
            <a:lvl8pPr marL="3657600" lvl="7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8pPr>
            <a:lvl9pPr marL="4114800" lvl="8" indent="-228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500"/>
              <a:buNone/>
              <a:defRPr sz="500"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>
            <a:spLocks noGrp="1"/>
          </p:cNvSpPr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23"/>
          <p:cNvSpPr txBox="1">
            <a:spLocks noGrp="1"/>
          </p:cNvSpPr>
          <p:nvPr>
            <p:ph type="body" idx="1"/>
          </p:nvPr>
        </p:nvSpPr>
        <p:spPr>
          <a:xfrm rot="5400000">
            <a:off x="1154509" y="-125809"/>
            <a:ext cx="2262982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1pPr>
            <a:lvl2pPr marL="914400" lvl="1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2pPr>
            <a:lvl3pPr marL="1371600" lvl="2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3pPr>
            <a:lvl4pPr marL="1828800" lvl="3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4pPr>
            <a:lvl5pPr marL="2286000" lvl="4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»"/>
              <a:defRPr/>
            </a:lvl5pPr>
            <a:lvl6pPr marL="2743200" lvl="5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6pPr>
            <a:lvl7pPr marL="3200400" lvl="6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7pPr>
            <a:lvl8pPr marL="3657600" lvl="7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8pPr>
            <a:lvl9pPr marL="4114800" lvl="8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9pPr>
          </a:lstStyle>
          <a:p>
            <a:endParaRPr/>
          </a:p>
        </p:txBody>
      </p:sp>
      <p:sp>
        <p:nvSpPr>
          <p:cNvPr id="116" name="Google Shape;116;p23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3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3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>
            <a:spLocks noGrp="1"/>
          </p:cNvSpPr>
          <p:nvPr>
            <p:ph type="title"/>
          </p:nvPr>
        </p:nvSpPr>
        <p:spPr>
          <a:xfrm rot="5400000">
            <a:off x="2366169" y="1085850"/>
            <a:ext cx="2925763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4"/>
          <p:cNvSpPr txBox="1">
            <a:spLocks noGrp="1"/>
          </p:cNvSpPr>
          <p:nvPr>
            <p:ph type="body" idx="1"/>
          </p:nvPr>
        </p:nvSpPr>
        <p:spPr>
          <a:xfrm rot="5400000">
            <a:off x="270669" y="95250"/>
            <a:ext cx="2925763" cy="300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lvl="0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1pPr>
            <a:lvl2pPr marL="914400" lvl="1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2pPr>
            <a:lvl3pPr marL="1371600" lvl="2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3pPr>
            <a:lvl4pPr marL="1828800" lvl="3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–"/>
              <a:defRPr/>
            </a:lvl4pPr>
            <a:lvl5pPr marL="2286000" lvl="4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»"/>
              <a:defRPr/>
            </a:lvl5pPr>
            <a:lvl6pPr marL="2743200" lvl="5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6pPr>
            <a:lvl7pPr marL="3200400" lvl="6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7pPr>
            <a:lvl8pPr marL="3657600" lvl="7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8pPr>
            <a:lvl9pPr marL="4114800" lvl="8" indent="-28575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/>
            </a:lvl9pPr>
          </a:lstStyle>
          <a:p>
            <a:endParaRPr/>
          </a:p>
        </p:txBody>
      </p:sp>
      <p:sp>
        <p:nvSpPr>
          <p:cNvPr id="122" name="Google Shape;122;p24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4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24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228600" y="137319"/>
            <a:ext cx="41148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None/>
              <a:defRPr sz="2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 sz="9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228600" y="800100"/>
            <a:ext cx="4114800" cy="226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marR="0" lvl="0" indent="-330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175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–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048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–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228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1562100" y="3178175"/>
            <a:ext cx="1447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700"/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700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3276600" y="3178175"/>
            <a:ext cx="1066800" cy="182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714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4D159F3-61F0-C914-7BE1-248FDE119245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1" name="Google Shape;131;p25"/>
          <p:cNvSpPr/>
          <p:nvPr/>
        </p:nvSpPr>
        <p:spPr>
          <a:xfrm>
            <a:off x="4798470" y="743550"/>
            <a:ext cx="3475431" cy="3320666"/>
          </a:xfrm>
          <a:custGeom>
            <a:avLst/>
            <a:gdLst/>
            <a:ahLst/>
            <a:cxnLst/>
            <a:rect l="l" t="t" r="r" b="b"/>
            <a:pathLst>
              <a:path w="6950861" h="6641331" extrusionOk="0">
                <a:moveTo>
                  <a:pt x="0" y="0"/>
                </a:moveTo>
                <a:lnTo>
                  <a:pt x="6950861" y="0"/>
                </a:lnTo>
                <a:lnTo>
                  <a:pt x="6950861" y="6641332"/>
                </a:lnTo>
                <a:lnTo>
                  <a:pt x="0" y="66413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30354" t="-20481" r="-30354" b="-47713"/>
            </a:stretch>
          </a:blipFill>
          <a:ln>
            <a:noFill/>
          </a:ln>
        </p:spPr>
      </p:sp>
      <p:sp>
        <p:nvSpPr>
          <p:cNvPr id="132" name="Google Shape;132;p25"/>
          <p:cNvSpPr txBox="1"/>
          <p:nvPr/>
        </p:nvSpPr>
        <p:spPr>
          <a:xfrm>
            <a:off x="514350" y="1746000"/>
            <a:ext cx="4057800" cy="12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300" b="1" i="0" u="none" strike="noStrike" cap="none" dirty="0">
                <a:solidFill>
                  <a:srgbClr val="FF3131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fr" sz="6300" b="1" i="0" u="none" strike="noStrike" cap="none" dirty="0">
                <a:solidFill>
                  <a:srgbClr val="ED743E"/>
                </a:solidFill>
                <a:latin typeface="Barlow"/>
                <a:ea typeface="Barlow"/>
                <a:cs typeface="Barlow"/>
                <a:sym typeface="Barlow"/>
              </a:rPr>
              <a:t>VulcaData</a:t>
            </a:r>
            <a:endParaRPr sz="700" dirty="0">
              <a:solidFill>
                <a:srgbClr val="ED743E"/>
              </a:solidFill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 b="1" dirty="0">
                <a:solidFill>
                  <a:srgbClr val="FF3131"/>
                </a:solidFill>
                <a:latin typeface="Barlow"/>
                <a:ea typeface="Barlow"/>
                <a:cs typeface="Barlow"/>
                <a:sym typeface="Barlow"/>
              </a:rPr>
              <a:t>          </a:t>
            </a:r>
            <a:r>
              <a:rPr lang="fr" sz="2000" b="1" i="0" u="none" strike="noStrike" cap="none" dirty="0">
                <a:solidFill>
                  <a:srgbClr val="ED743E"/>
                </a:solidFill>
                <a:latin typeface="Barlow"/>
                <a:ea typeface="Barlow"/>
                <a:cs typeface="Barlow"/>
                <a:sym typeface="Barlow"/>
              </a:rPr>
              <a:t>PRÉDIRE L’IMPRÉVISIBLE</a:t>
            </a:r>
            <a:endParaRPr sz="700" dirty="0">
              <a:solidFill>
                <a:srgbClr val="ED743E"/>
              </a:solidFill>
            </a:endParaRPr>
          </a:p>
        </p:txBody>
      </p:sp>
      <p:sp>
        <p:nvSpPr>
          <p:cNvPr id="133" name="Google Shape;133;p25"/>
          <p:cNvSpPr txBox="1"/>
          <p:nvPr/>
        </p:nvSpPr>
        <p:spPr>
          <a:xfrm>
            <a:off x="1667476" y="4333875"/>
            <a:ext cx="5808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 b="0" i="1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Projet de prédiction d’éruptions volcaniques </a:t>
            </a:r>
            <a:endParaRPr sz="700"/>
          </a:p>
        </p:txBody>
      </p:sp>
      <p:sp>
        <p:nvSpPr>
          <p:cNvPr id="134" name="Google Shape;134;p25"/>
          <p:cNvSpPr txBox="1"/>
          <p:nvPr/>
        </p:nvSpPr>
        <p:spPr>
          <a:xfrm>
            <a:off x="8299200" y="4517150"/>
            <a:ext cx="685200" cy="48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2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1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714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31C47AE-88F9-7A81-9ACD-A87F22FFDC11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1" name="Google Shape;141;p26"/>
          <p:cNvSpPr/>
          <p:nvPr/>
        </p:nvSpPr>
        <p:spPr>
          <a:xfrm>
            <a:off x="7356016" y="2633012"/>
            <a:ext cx="759773" cy="759773"/>
          </a:xfrm>
          <a:custGeom>
            <a:avLst/>
            <a:gdLst/>
            <a:ahLst/>
            <a:cxnLst/>
            <a:rect l="l" t="t" r="r" b="b"/>
            <a:pathLst>
              <a:path w="6350000" h="6350000" extrusionOk="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1B1714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26"/>
          <p:cNvSpPr/>
          <p:nvPr/>
        </p:nvSpPr>
        <p:spPr>
          <a:xfrm>
            <a:off x="5261565" y="2633012"/>
            <a:ext cx="759772" cy="759773"/>
          </a:xfrm>
          <a:custGeom>
            <a:avLst/>
            <a:gdLst/>
            <a:ahLst/>
            <a:cxnLst/>
            <a:rect l="l" t="t" r="r" b="b"/>
            <a:pathLst>
              <a:path w="6350000" h="6350000" extrusionOk="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1B1714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26"/>
          <p:cNvSpPr/>
          <p:nvPr/>
        </p:nvSpPr>
        <p:spPr>
          <a:xfrm>
            <a:off x="3141316" y="2633012"/>
            <a:ext cx="759773" cy="759773"/>
          </a:xfrm>
          <a:custGeom>
            <a:avLst/>
            <a:gdLst/>
            <a:ahLst/>
            <a:cxnLst/>
            <a:rect l="l" t="t" r="r" b="b"/>
            <a:pathLst>
              <a:path w="6350000" h="6350000" extrusionOk="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1B1714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26"/>
          <p:cNvSpPr/>
          <p:nvPr/>
        </p:nvSpPr>
        <p:spPr>
          <a:xfrm>
            <a:off x="1180102" y="2633012"/>
            <a:ext cx="759773" cy="759773"/>
          </a:xfrm>
          <a:custGeom>
            <a:avLst/>
            <a:gdLst/>
            <a:ahLst/>
            <a:cxnLst/>
            <a:rect l="l" t="t" r="r" b="b"/>
            <a:pathLst>
              <a:path w="6350000" h="6350000" extrusionOk="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rgbClr val="1B1714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26"/>
          <p:cNvSpPr/>
          <p:nvPr/>
        </p:nvSpPr>
        <p:spPr>
          <a:xfrm>
            <a:off x="7200935" y="2104576"/>
            <a:ext cx="1069933" cy="1288208"/>
          </a:xfrm>
          <a:custGeom>
            <a:avLst/>
            <a:gdLst/>
            <a:ahLst/>
            <a:cxnLst/>
            <a:rect l="l" t="t" r="r" b="b"/>
            <a:pathLst>
              <a:path w="2139867" h="2576417" extrusionOk="0">
                <a:moveTo>
                  <a:pt x="0" y="0"/>
                </a:moveTo>
                <a:lnTo>
                  <a:pt x="2139867" y="0"/>
                </a:lnTo>
                <a:lnTo>
                  <a:pt x="2139867" y="2576418"/>
                </a:lnTo>
                <a:lnTo>
                  <a:pt x="0" y="257641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r="-11518"/>
            </a:stretch>
          </a:blipFill>
          <a:ln>
            <a:noFill/>
          </a:ln>
        </p:spPr>
      </p:sp>
      <p:sp>
        <p:nvSpPr>
          <p:cNvPr id="146" name="Google Shape;146;p26"/>
          <p:cNvSpPr/>
          <p:nvPr/>
        </p:nvSpPr>
        <p:spPr>
          <a:xfrm>
            <a:off x="5106484" y="2104576"/>
            <a:ext cx="1069934" cy="1288208"/>
          </a:xfrm>
          <a:custGeom>
            <a:avLst/>
            <a:gdLst/>
            <a:ahLst/>
            <a:cxnLst/>
            <a:rect l="l" t="t" r="r" b="b"/>
            <a:pathLst>
              <a:path w="2139867" h="2576417" extrusionOk="0">
                <a:moveTo>
                  <a:pt x="0" y="0"/>
                </a:moveTo>
                <a:lnTo>
                  <a:pt x="2139867" y="0"/>
                </a:lnTo>
                <a:lnTo>
                  <a:pt x="2139867" y="2576418"/>
                </a:lnTo>
                <a:lnTo>
                  <a:pt x="0" y="257641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r="-11518"/>
            </a:stretch>
          </a:blipFill>
          <a:ln>
            <a:noFill/>
          </a:ln>
        </p:spPr>
      </p:sp>
      <p:sp>
        <p:nvSpPr>
          <p:cNvPr id="147" name="Google Shape;147;p26"/>
          <p:cNvSpPr/>
          <p:nvPr/>
        </p:nvSpPr>
        <p:spPr>
          <a:xfrm>
            <a:off x="1047445" y="2104576"/>
            <a:ext cx="1069934" cy="1288208"/>
          </a:xfrm>
          <a:custGeom>
            <a:avLst/>
            <a:gdLst/>
            <a:ahLst/>
            <a:cxnLst/>
            <a:rect l="l" t="t" r="r" b="b"/>
            <a:pathLst>
              <a:path w="2139867" h="2576417" extrusionOk="0">
                <a:moveTo>
                  <a:pt x="0" y="0"/>
                </a:moveTo>
                <a:lnTo>
                  <a:pt x="2139867" y="0"/>
                </a:lnTo>
                <a:lnTo>
                  <a:pt x="2139867" y="2576418"/>
                </a:lnTo>
                <a:lnTo>
                  <a:pt x="0" y="257641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r="-11518"/>
            </a:stretch>
          </a:blipFill>
          <a:ln>
            <a:noFill/>
          </a:ln>
        </p:spPr>
      </p:sp>
      <p:sp>
        <p:nvSpPr>
          <p:cNvPr id="148" name="Google Shape;148;p26"/>
          <p:cNvSpPr/>
          <p:nvPr/>
        </p:nvSpPr>
        <p:spPr>
          <a:xfrm>
            <a:off x="3091224" y="2201705"/>
            <a:ext cx="859956" cy="1093951"/>
          </a:xfrm>
          <a:custGeom>
            <a:avLst/>
            <a:gdLst/>
            <a:ahLst/>
            <a:cxnLst/>
            <a:rect l="l" t="t" r="r" b="b"/>
            <a:pathLst>
              <a:path w="1719911" h="2187902" extrusionOk="0">
                <a:moveTo>
                  <a:pt x="0" y="0"/>
                </a:moveTo>
                <a:lnTo>
                  <a:pt x="1719911" y="0"/>
                </a:lnTo>
                <a:lnTo>
                  <a:pt x="1719911" y="2187902"/>
                </a:lnTo>
                <a:lnTo>
                  <a:pt x="0" y="21879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l="-1359" r="-1358"/>
            </a:stretch>
          </a:blipFill>
          <a:ln>
            <a:noFill/>
          </a:ln>
        </p:spPr>
      </p:sp>
      <p:sp>
        <p:nvSpPr>
          <p:cNvPr id="149" name="Google Shape;149;p26"/>
          <p:cNvSpPr txBox="1"/>
          <p:nvPr/>
        </p:nvSpPr>
        <p:spPr>
          <a:xfrm>
            <a:off x="917831" y="868753"/>
            <a:ext cx="7308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3000" b="1" i="0" u="none" strike="noStrike" cap="none">
                <a:solidFill>
                  <a:srgbClr val="ED743E"/>
                </a:solidFill>
                <a:latin typeface="Montserrat"/>
                <a:ea typeface="Montserrat"/>
                <a:cs typeface="Montserrat"/>
                <a:sym typeface="Montserrat"/>
              </a:rPr>
              <a:t>L’ÉQUIPE</a:t>
            </a:r>
            <a:endParaRPr sz="3000"/>
          </a:p>
        </p:txBody>
      </p:sp>
      <p:sp>
        <p:nvSpPr>
          <p:cNvPr id="150" name="Google Shape;150;p26"/>
          <p:cNvSpPr txBox="1"/>
          <p:nvPr/>
        </p:nvSpPr>
        <p:spPr>
          <a:xfrm>
            <a:off x="590295" y="3527402"/>
            <a:ext cx="1939387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 b="0" i="0" u="none" strike="noStrike" cap="none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David</a:t>
            </a:r>
          </a:p>
          <a:p>
            <a:pPr marL="0" marR="0" lvl="0" indent="0" algn="ct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 dirty="0">
                <a:solidFill>
                  <a:schemeClr val="tx1"/>
                </a:solidFill>
                <a:latin typeface="Montserrat"/>
                <a:sym typeface="Montserrat"/>
              </a:rPr>
              <a:t>PEREIRA</a:t>
            </a:r>
            <a:endParaRPr sz="700" dirty="0">
              <a:solidFill>
                <a:schemeClr val="tx1"/>
              </a:solidFill>
            </a:endParaRPr>
          </a:p>
        </p:txBody>
      </p:sp>
      <p:sp>
        <p:nvSpPr>
          <p:cNvPr id="151" name="Google Shape;151;p26"/>
          <p:cNvSpPr txBox="1"/>
          <p:nvPr/>
        </p:nvSpPr>
        <p:spPr>
          <a:xfrm>
            <a:off x="2551509" y="3527402"/>
            <a:ext cx="1939387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 b="0" i="0" u="none" strike="noStrike" cap="none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Emmeline</a:t>
            </a:r>
          </a:p>
          <a:p>
            <a:pPr marL="0" marR="0" lvl="0" indent="0" algn="ct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 dirty="0">
                <a:solidFill>
                  <a:schemeClr val="tx1"/>
                </a:solidFill>
                <a:latin typeface="Montserrat"/>
                <a:sym typeface="Montserrat"/>
              </a:rPr>
              <a:t>CARO</a:t>
            </a:r>
            <a:endParaRPr sz="700" dirty="0">
              <a:solidFill>
                <a:schemeClr val="tx1"/>
              </a:solidFill>
            </a:endParaRPr>
          </a:p>
        </p:txBody>
      </p:sp>
      <p:sp>
        <p:nvSpPr>
          <p:cNvPr id="152" name="Google Shape;152;p26"/>
          <p:cNvSpPr txBox="1"/>
          <p:nvPr/>
        </p:nvSpPr>
        <p:spPr>
          <a:xfrm>
            <a:off x="4671758" y="3527402"/>
            <a:ext cx="1939387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 b="0" i="0" u="none" strike="noStrike" cap="none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Gabriel</a:t>
            </a:r>
          </a:p>
          <a:p>
            <a:pPr marL="0" marR="0" lvl="0" indent="0" algn="ct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 dirty="0">
                <a:solidFill>
                  <a:schemeClr val="tx1"/>
                </a:solidFill>
                <a:latin typeface="Montserrat"/>
                <a:sym typeface="Montserrat"/>
              </a:rPr>
              <a:t>PONROY</a:t>
            </a:r>
            <a:endParaRPr sz="700" dirty="0">
              <a:solidFill>
                <a:schemeClr val="tx1"/>
              </a:solidFill>
            </a:endParaRPr>
          </a:p>
        </p:txBody>
      </p:sp>
      <p:sp>
        <p:nvSpPr>
          <p:cNvPr id="153" name="Google Shape;153;p26"/>
          <p:cNvSpPr txBox="1"/>
          <p:nvPr/>
        </p:nvSpPr>
        <p:spPr>
          <a:xfrm>
            <a:off x="6766208" y="3527402"/>
            <a:ext cx="1939387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 b="0" i="0" u="none" strike="noStrike" cap="none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Mathias</a:t>
            </a:r>
          </a:p>
          <a:p>
            <a:pPr marL="0" marR="0" lvl="0" indent="0" algn="ctr" rtl="0">
              <a:lnSpc>
                <a:spcPct val="120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 dirty="0">
                <a:solidFill>
                  <a:schemeClr val="tx1"/>
                </a:solidFill>
                <a:latin typeface="Montserrat"/>
                <a:sym typeface="Montserrat"/>
              </a:rPr>
              <a:t>COLSON</a:t>
            </a:r>
            <a:endParaRPr sz="700" dirty="0">
              <a:solidFill>
                <a:schemeClr val="tx1"/>
              </a:solidFill>
            </a:endParaRPr>
          </a:p>
        </p:txBody>
      </p:sp>
      <p:sp>
        <p:nvSpPr>
          <p:cNvPr id="154" name="Google Shape;154;p26"/>
          <p:cNvSpPr txBox="1"/>
          <p:nvPr/>
        </p:nvSpPr>
        <p:spPr>
          <a:xfrm>
            <a:off x="8329650" y="4469300"/>
            <a:ext cx="6438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 b="1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714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3A3AE3-E8D3-AD0A-587B-C93E369742C9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1" name="Google Shape;161;p27"/>
          <p:cNvSpPr/>
          <p:nvPr/>
        </p:nvSpPr>
        <p:spPr>
          <a:xfrm>
            <a:off x="6188025" y="2124799"/>
            <a:ext cx="2884295" cy="1421604"/>
          </a:xfrm>
          <a:custGeom>
            <a:avLst/>
            <a:gdLst/>
            <a:ahLst/>
            <a:cxnLst/>
            <a:rect l="l" t="t" r="r" b="b"/>
            <a:pathLst>
              <a:path w="10584570" h="6389231" extrusionOk="0">
                <a:moveTo>
                  <a:pt x="0" y="0"/>
                </a:moveTo>
                <a:lnTo>
                  <a:pt x="10584570" y="0"/>
                </a:lnTo>
                <a:lnTo>
                  <a:pt x="10584570" y="6389231"/>
                </a:lnTo>
                <a:lnTo>
                  <a:pt x="0" y="638923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62" name="Google Shape;162;p27"/>
          <p:cNvSpPr txBox="1"/>
          <p:nvPr/>
        </p:nvSpPr>
        <p:spPr>
          <a:xfrm>
            <a:off x="621600" y="297975"/>
            <a:ext cx="7900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3000" b="1">
                <a:solidFill>
                  <a:srgbClr val="ED743E"/>
                </a:solidFill>
                <a:latin typeface="Montserrat"/>
                <a:ea typeface="Montserrat"/>
                <a:cs typeface="Montserrat"/>
                <a:sym typeface="Montserrat"/>
              </a:rPr>
              <a:t>CONTEXTE</a:t>
            </a:r>
            <a:endParaRPr sz="3000" b="1">
              <a:solidFill>
                <a:srgbClr val="ED743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3" name="Google Shape;163;p27"/>
          <p:cNvSpPr txBox="1"/>
          <p:nvPr/>
        </p:nvSpPr>
        <p:spPr>
          <a:xfrm>
            <a:off x="621600" y="1017400"/>
            <a:ext cx="6285600" cy="1900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8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Pourquoi ?</a:t>
            </a:r>
            <a:endParaRPr sz="1800" b="1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42900" algn="just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Char char="●"/>
            </a:pPr>
            <a:r>
              <a:rPr lang="fr" sz="1800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Sujet d’étude nouveau + passionnant</a:t>
            </a:r>
            <a:endParaRPr sz="1800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429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Char char="●"/>
            </a:pPr>
            <a:r>
              <a:rPr lang="fr" sz="1800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Piton de la Fournaise : volcan très actif</a:t>
            </a:r>
            <a:endParaRPr sz="1800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429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Char char="●"/>
            </a:pPr>
            <a:r>
              <a:rPr lang="fr" sz="1800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Signaux précurseurs mesurables : sismicité</a:t>
            </a:r>
            <a:endParaRPr sz="1800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429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Char char="●"/>
            </a:pPr>
            <a:r>
              <a:rPr lang="fr" sz="1800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Cadre idéal pour Data sciences</a:t>
            </a:r>
            <a:endParaRPr sz="1800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4" name="Google Shape;164;p27"/>
          <p:cNvSpPr txBox="1"/>
          <p:nvPr/>
        </p:nvSpPr>
        <p:spPr>
          <a:xfrm>
            <a:off x="621600" y="2980625"/>
            <a:ext cx="6176700" cy="182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8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Notre mission</a:t>
            </a:r>
            <a:endParaRPr sz="1800" b="1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800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Créer un modèle capable de prédire </a:t>
            </a:r>
            <a:r>
              <a:rPr lang="fr" sz="18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la probabilité d’éruption dans les prochaines heures</a:t>
            </a:r>
            <a:r>
              <a:rPr lang="fr" sz="1800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, à partir de signaux géo-sismiques mesurés en continu.</a:t>
            </a:r>
            <a:endParaRPr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7"/>
          <p:cNvSpPr txBox="1"/>
          <p:nvPr/>
        </p:nvSpPr>
        <p:spPr>
          <a:xfrm>
            <a:off x="8275275" y="4436675"/>
            <a:ext cx="676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 b="1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714"/>
        </a:soli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3ECB416-ED91-2260-A297-5A28A364D41C}"/>
              </a:ext>
            </a:extLst>
          </p:cNvPr>
          <p:cNvSpPr/>
          <p:nvPr/>
        </p:nvSpPr>
        <p:spPr>
          <a:xfrm>
            <a:off x="0" y="0"/>
            <a:ext cx="9134431" cy="5143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4" name="Google Shape;174;p28"/>
          <p:cNvSpPr txBox="1"/>
          <p:nvPr/>
        </p:nvSpPr>
        <p:spPr>
          <a:xfrm>
            <a:off x="8220300" y="4469300"/>
            <a:ext cx="741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 b="1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ACDA5F2-B4C6-D9F3-86D6-60B6568591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010" y="181600"/>
            <a:ext cx="8700410" cy="4442605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714"/>
        </a:soli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3E9018B-4B3E-60B0-E669-A0DF7281FD27}"/>
              </a:ext>
            </a:extLst>
          </p:cNvPr>
          <p:cNvSpPr/>
          <p:nvPr/>
        </p:nvSpPr>
        <p:spPr>
          <a:xfrm>
            <a:off x="0" y="0"/>
            <a:ext cx="9134431" cy="5143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5" name="Google Shape;185;p29"/>
          <p:cNvSpPr txBox="1"/>
          <p:nvPr/>
        </p:nvSpPr>
        <p:spPr>
          <a:xfrm>
            <a:off x="8271650" y="4523600"/>
            <a:ext cx="774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 b="1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18459A3-55F0-7CC7-1060-B85FE0A3D7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885" y="127300"/>
            <a:ext cx="8604660" cy="4696179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714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36E3FA2-CFC8-28BD-9B14-2070091EFC34}"/>
              </a:ext>
            </a:extLst>
          </p:cNvPr>
          <p:cNvSpPr/>
          <p:nvPr/>
        </p:nvSpPr>
        <p:spPr>
          <a:xfrm>
            <a:off x="0" y="0"/>
            <a:ext cx="9134431" cy="5143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4" name="Google Shape;194;p30"/>
          <p:cNvSpPr txBox="1"/>
          <p:nvPr/>
        </p:nvSpPr>
        <p:spPr>
          <a:xfrm>
            <a:off x="8445600" y="4556300"/>
            <a:ext cx="6330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347B0C2-273D-BEB2-9345-CC44111385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797" y="239486"/>
            <a:ext cx="8879717" cy="3976914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714"/>
        </a:solidFill>
        <a:effectLst/>
      </p:bgPr>
    </p:bg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C3BF10E-7432-ACB3-7FD5-BFCEACD01911}"/>
              </a:ext>
            </a:extLst>
          </p:cNvPr>
          <p:cNvSpPr/>
          <p:nvPr/>
        </p:nvSpPr>
        <p:spPr>
          <a:xfrm>
            <a:off x="0" y="0"/>
            <a:ext cx="9134431" cy="5143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3" name="Google Shape;203;p31"/>
          <p:cNvSpPr txBox="1"/>
          <p:nvPr/>
        </p:nvSpPr>
        <p:spPr>
          <a:xfrm>
            <a:off x="476350" y="174325"/>
            <a:ext cx="81153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DASHBOARD &amp; VISUALISATION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205" name="Google Shape;205;p31"/>
          <p:cNvSpPr txBox="1"/>
          <p:nvPr/>
        </p:nvSpPr>
        <p:spPr>
          <a:xfrm>
            <a:off x="8447125" y="4589575"/>
            <a:ext cx="687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6930AC30-5E1D-37C5-C5E2-7D26E6F08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9" y="587831"/>
            <a:ext cx="7017928" cy="2946401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D3A41F18-ECD0-2113-6B43-6A218DAE5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7928" y="587831"/>
            <a:ext cx="2114173" cy="3017157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714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5A84A5F-601A-18E2-9CFD-42152A02F4BB}"/>
              </a:ext>
            </a:extLst>
          </p:cNvPr>
          <p:cNvSpPr/>
          <p:nvPr/>
        </p:nvSpPr>
        <p:spPr>
          <a:xfrm>
            <a:off x="0" y="0"/>
            <a:ext cx="9134431" cy="5143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2" name="Google Shape;212;p32"/>
          <p:cNvSpPr txBox="1"/>
          <p:nvPr/>
        </p:nvSpPr>
        <p:spPr>
          <a:xfrm>
            <a:off x="514350" y="124675"/>
            <a:ext cx="8115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30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ET APRÈS ?</a:t>
            </a:r>
            <a:endParaRPr sz="3000" dirty="0">
              <a:solidFill>
                <a:schemeClr val="tx1"/>
              </a:solidFill>
            </a:endParaRPr>
          </a:p>
        </p:txBody>
      </p:sp>
      <p:sp>
        <p:nvSpPr>
          <p:cNvPr id="213" name="Google Shape;213;p32"/>
          <p:cNvSpPr txBox="1"/>
          <p:nvPr/>
        </p:nvSpPr>
        <p:spPr>
          <a:xfrm>
            <a:off x="0" y="978363"/>
            <a:ext cx="4495587" cy="3933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fr" sz="1300" b="1" dirty="0">
                <a:solidFill>
                  <a:schemeClr val="tx1"/>
                </a:solidFill>
              </a:rPr>
              <a:t> </a:t>
            </a:r>
            <a:r>
              <a:rPr lang="fr" sz="1800" b="1" dirty="0">
                <a:solidFill>
                  <a:schemeClr val="tx1"/>
                </a:solidFill>
              </a:rPr>
              <a:t>➕</a:t>
            </a:r>
            <a:r>
              <a:rPr lang="fr" sz="1200" b="1" dirty="0">
                <a:solidFill>
                  <a:schemeClr val="tx1"/>
                </a:solidFill>
              </a:rPr>
              <a:t> </a:t>
            </a:r>
            <a:r>
              <a:rPr lang="fr" sz="12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Augmenter le volume de données d’entrainement</a:t>
            </a:r>
            <a:endParaRPr sz="1200" b="1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323850" lvl="0" indent="-171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FontTx/>
              <a:buChar char="-"/>
            </a:pPr>
            <a:r>
              <a:rPr lang="fr-FR" sz="1200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L’entrainement initial a été réalisé sur un volume faible pour des raison de contraintes logistiques</a:t>
            </a:r>
          </a:p>
          <a:p>
            <a:pPr marL="323850" lvl="0" indent="-171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FontTx/>
              <a:buChar char="-"/>
            </a:pPr>
            <a:r>
              <a:rPr lang="fr-FR" sz="1200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Connecter le pipeline pour entrainer le modèle sur la totalité des données disponibles permettrait d’améliorer sensiblement la qualité des prédictions</a:t>
            </a:r>
            <a:endParaRPr sz="1200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>
              <a:lnSpc>
                <a:spcPct val="115000"/>
              </a:lnSpc>
              <a:spcBef>
                <a:spcPts val="1400"/>
              </a:spcBef>
            </a:pPr>
            <a:r>
              <a:rPr lang="fr-FR" sz="1300" b="1" dirty="0">
                <a:solidFill>
                  <a:schemeClr val="tx1"/>
                </a:solidFill>
              </a:rPr>
              <a:t> </a:t>
            </a:r>
            <a:r>
              <a:rPr lang="fr-FR" sz="1800" b="1" dirty="0">
                <a:solidFill>
                  <a:schemeClr val="tx1"/>
                </a:solidFill>
              </a:rPr>
              <a:t>➕</a:t>
            </a:r>
            <a:r>
              <a:rPr lang="fr-FR" sz="1200" b="1" dirty="0">
                <a:solidFill>
                  <a:schemeClr val="tx1"/>
                </a:solidFill>
              </a:rPr>
              <a:t> </a:t>
            </a:r>
            <a:r>
              <a:rPr lang="fr-FR" sz="12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Intégrer d’autres types de données</a:t>
            </a:r>
          </a:p>
          <a:p>
            <a:pPr marL="171450" indent="-171450">
              <a:lnSpc>
                <a:spcPct val="115000"/>
              </a:lnSpc>
              <a:spcBef>
                <a:spcPts val="1400"/>
              </a:spcBef>
              <a:buFont typeface="Courier New" panose="02070309020205020404" pitchFamily="49" charset="0"/>
              <a:buChar char="o"/>
            </a:pPr>
            <a:r>
              <a:rPr lang="fr-FR" sz="1200" dirty="0">
                <a:solidFill>
                  <a:schemeClr val="tx1"/>
                </a:solidFill>
                <a:latin typeface="Montserrat"/>
                <a:sym typeface="Montserrat"/>
              </a:rPr>
              <a:t>- Composition des gaz</a:t>
            </a:r>
          </a:p>
          <a:p>
            <a:pPr marL="171450" indent="-171450">
              <a:lnSpc>
                <a:spcPct val="115000"/>
              </a:lnSpc>
              <a:spcBef>
                <a:spcPts val="1400"/>
              </a:spcBef>
              <a:buFont typeface="Courier New" panose="02070309020205020404" pitchFamily="49" charset="0"/>
              <a:buChar char="o"/>
            </a:pPr>
            <a:r>
              <a:rPr lang="fr-FR" sz="1200" dirty="0">
                <a:solidFill>
                  <a:schemeClr val="tx1"/>
                </a:solidFill>
                <a:latin typeface="Montserrat"/>
                <a:sym typeface="Montserrat"/>
              </a:rPr>
              <a:t>-  Mesure de la déformation des sols</a:t>
            </a:r>
          </a:p>
          <a:p>
            <a:pPr marL="171450" indent="-171450">
              <a:lnSpc>
                <a:spcPct val="115000"/>
              </a:lnSpc>
              <a:spcBef>
                <a:spcPts val="1400"/>
              </a:spcBef>
              <a:buFont typeface="Courier New" panose="02070309020205020404" pitchFamily="49" charset="0"/>
              <a:buChar char="o"/>
            </a:pPr>
            <a:r>
              <a:rPr lang="fr-FR" sz="1200" dirty="0">
                <a:solidFill>
                  <a:schemeClr val="tx1"/>
                </a:solidFill>
                <a:latin typeface="Montserrat"/>
                <a:sym typeface="Montserrat"/>
              </a:rPr>
              <a:t>- imagerie thermique</a:t>
            </a: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endParaRPr sz="1200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4" name="Google Shape;214;p32"/>
          <p:cNvSpPr/>
          <p:nvPr/>
        </p:nvSpPr>
        <p:spPr>
          <a:xfrm>
            <a:off x="7413877" y="3725369"/>
            <a:ext cx="901309" cy="1185649"/>
          </a:xfrm>
          <a:custGeom>
            <a:avLst/>
            <a:gdLst/>
            <a:ahLst/>
            <a:cxnLst/>
            <a:rect l="l" t="t" r="r" b="b"/>
            <a:pathLst>
              <a:path w="9521612" h="10051605" extrusionOk="0">
                <a:moveTo>
                  <a:pt x="0" y="0"/>
                </a:moveTo>
                <a:lnTo>
                  <a:pt x="9521612" y="0"/>
                </a:lnTo>
                <a:lnTo>
                  <a:pt x="9521612" y="10051606"/>
                </a:lnTo>
                <a:lnTo>
                  <a:pt x="0" y="100516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15" name="Google Shape;215;p32"/>
          <p:cNvSpPr txBox="1"/>
          <p:nvPr/>
        </p:nvSpPr>
        <p:spPr>
          <a:xfrm>
            <a:off x="8391600" y="4644400"/>
            <a:ext cx="7524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C187C60-C437-D406-EB3F-E29BBD7DBBA7}"/>
              </a:ext>
            </a:extLst>
          </p:cNvPr>
          <p:cNvSpPr txBox="1"/>
          <p:nvPr/>
        </p:nvSpPr>
        <p:spPr>
          <a:xfrm>
            <a:off x="4796758" y="1176143"/>
            <a:ext cx="4347242" cy="279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fr" sz="14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🤖 Explorerd’autres m</a:t>
            </a:r>
            <a:r>
              <a:rPr lang="fr-FR" sz="1400" b="1" dirty="0" err="1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odèles</a:t>
            </a:r>
            <a:r>
              <a:rPr lang="fr-FR" sz="14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 prédictifs</a:t>
            </a:r>
          </a:p>
          <a:p>
            <a:pPr marL="45720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fr-FR" sz="14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STAX</a:t>
            </a:r>
            <a:r>
              <a:rPr lang="fr-FR" sz="1400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 (Transformer spécialisé volcans)</a:t>
            </a:r>
            <a:br>
              <a:rPr lang="fr-FR" sz="1400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lang="fr-FR" sz="1400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fr-FR" sz="1400" b="1" dirty="0" err="1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EQTransformer</a:t>
            </a:r>
            <a:r>
              <a:rPr lang="fr-FR" sz="1400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 (détection sismique avancée)</a:t>
            </a: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fr" sz="14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🌋 </a:t>
            </a:r>
            <a:r>
              <a:rPr lang="fr-FR" sz="14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Volcans similaires à ajouter</a:t>
            </a:r>
          </a:p>
          <a:p>
            <a:pPr marL="45720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fr-FR" sz="1400" b="1" dirty="0" err="1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Kīlauea</a:t>
            </a:r>
            <a:r>
              <a:rPr lang="fr-FR" sz="1400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 (Hawaï)</a:t>
            </a:r>
            <a:br>
              <a:rPr lang="fr-FR" sz="1400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lang="fr-FR" sz="1400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fr-FR" sz="14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Etna</a:t>
            </a:r>
            <a:r>
              <a:rPr lang="fr-FR" sz="1400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 (Italie)</a:t>
            </a:r>
            <a:endParaRPr lang="fr-FR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714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0976671-E619-02A3-5DFF-6E0A080FD1BD}"/>
              </a:ext>
            </a:extLst>
          </p:cNvPr>
          <p:cNvSpPr/>
          <p:nvPr/>
        </p:nvSpPr>
        <p:spPr>
          <a:xfrm>
            <a:off x="0" y="0"/>
            <a:ext cx="9134431" cy="5143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2" name="Google Shape;222;p33"/>
          <p:cNvSpPr/>
          <p:nvPr/>
        </p:nvSpPr>
        <p:spPr>
          <a:xfrm>
            <a:off x="969225" y="1395588"/>
            <a:ext cx="2623966" cy="2467636"/>
          </a:xfrm>
          <a:custGeom>
            <a:avLst/>
            <a:gdLst/>
            <a:ahLst/>
            <a:cxnLst/>
            <a:rect l="l" t="t" r="r" b="b"/>
            <a:pathLst>
              <a:path w="8264460" h="7896435" extrusionOk="0">
                <a:moveTo>
                  <a:pt x="0" y="0"/>
                </a:moveTo>
                <a:lnTo>
                  <a:pt x="8264460" y="0"/>
                </a:lnTo>
                <a:lnTo>
                  <a:pt x="8264460" y="7896434"/>
                </a:lnTo>
                <a:lnTo>
                  <a:pt x="0" y="789643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30354" t="-20481" r="-30354" b="-47713"/>
            </a:stretch>
          </a:blipFill>
          <a:ln>
            <a:noFill/>
          </a:ln>
        </p:spPr>
      </p:sp>
      <p:sp>
        <p:nvSpPr>
          <p:cNvPr id="223" name="Google Shape;223;p33"/>
          <p:cNvSpPr txBox="1"/>
          <p:nvPr/>
        </p:nvSpPr>
        <p:spPr>
          <a:xfrm>
            <a:off x="2587651" y="259844"/>
            <a:ext cx="39687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3000" b="1" i="0" u="none" strike="noStrike" cap="none">
                <a:solidFill>
                  <a:srgbClr val="ED743E"/>
                </a:solidFill>
                <a:latin typeface="Montserrat"/>
                <a:ea typeface="Montserrat"/>
                <a:cs typeface="Montserrat"/>
                <a:sym typeface="Montserrat"/>
              </a:rPr>
              <a:t>MERCI ! </a:t>
            </a:r>
            <a:endParaRPr sz="3000"/>
          </a:p>
          <a:p>
            <a:pPr marL="0" marR="0" lvl="0" indent="0" algn="ctr" rtl="0">
              <a:lnSpc>
                <a:spcPct val="120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3000" b="1" i="0" u="none" strike="noStrike" cap="none">
                <a:solidFill>
                  <a:srgbClr val="ED743E"/>
                </a:solidFill>
                <a:latin typeface="Montserrat"/>
                <a:ea typeface="Montserrat"/>
                <a:cs typeface="Montserrat"/>
                <a:sym typeface="Montserrat"/>
              </a:rPr>
              <a:t>QUESTIONS ?</a:t>
            </a:r>
            <a:endParaRPr sz="3000"/>
          </a:p>
        </p:txBody>
      </p:sp>
      <p:sp>
        <p:nvSpPr>
          <p:cNvPr id="224" name="Google Shape;224;p33"/>
          <p:cNvSpPr txBox="1"/>
          <p:nvPr/>
        </p:nvSpPr>
        <p:spPr>
          <a:xfrm>
            <a:off x="3926114" y="2820265"/>
            <a:ext cx="4168199" cy="6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16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</a:rPr>
              <a:t>https://vartkirl-vulcadata-dashboard.hf.space/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5" name="Google Shape;225;p33" title="hf-log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06666" y="2182474"/>
            <a:ext cx="778576" cy="778576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33"/>
          <p:cNvSpPr txBox="1"/>
          <p:nvPr/>
        </p:nvSpPr>
        <p:spPr>
          <a:xfrm>
            <a:off x="8434725" y="4556300"/>
            <a:ext cx="6330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376</TotalTime>
  <Words>193</Words>
  <Application>Microsoft Office PowerPoint</Application>
  <PresentationFormat>Affichage à l'écran (16:9)</PresentationFormat>
  <Paragraphs>47</Paragraphs>
  <Slides>9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9</vt:i4>
      </vt:variant>
    </vt:vector>
  </HeadingPairs>
  <TitlesOfParts>
    <vt:vector size="16" baseType="lpstr">
      <vt:lpstr>Barlow</vt:lpstr>
      <vt:lpstr>Montserrat</vt:lpstr>
      <vt:lpstr>Courier New</vt:lpstr>
      <vt:lpstr>Arial</vt:lpstr>
      <vt:lpstr>Calibri</vt:lpstr>
      <vt:lpstr>Simple Light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Antoine C</cp:lastModifiedBy>
  <cp:revision>7</cp:revision>
  <dcterms:modified xsi:type="dcterms:W3CDTF">2026-06-24T14:58:57Z</dcterms:modified>
</cp:coreProperties>
</file>