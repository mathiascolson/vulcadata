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3"/>
      <p:bold r:id="rId14"/>
      <p:boldItalic r:id="rId15"/>
    </p:embeddedFont>
    <p:embeddedFont>
      <p:font typeface="Montserrat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32" y="22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6416256a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6416256a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58d65c382_2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a58d65c382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58d65c382_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a58d65c382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1153d69aa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91153d69aa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6416256a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a6416256a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9913600ba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a9913600ba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6416256a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a6416256a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6416256a4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3a6416256a4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6416256a4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a6416256a4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714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4572000" y="0"/>
            <a:ext cx="4562431" cy="5130509"/>
          </a:xfrm>
          <a:custGeom>
            <a:avLst/>
            <a:gdLst/>
            <a:ahLst/>
            <a:cxnLst/>
            <a:rect l="l" t="t" r="r" b="b"/>
            <a:pathLst>
              <a:path w="9554829" h="10633179" extrusionOk="0">
                <a:moveTo>
                  <a:pt x="0" y="0"/>
                </a:moveTo>
                <a:lnTo>
                  <a:pt x="9554829" y="0"/>
                </a:lnTo>
                <a:lnTo>
                  <a:pt x="9554829" y="10633180"/>
                </a:lnTo>
                <a:lnTo>
                  <a:pt x="0" y="10633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5000"/>
            </a:blip>
            <a:stretch>
              <a:fillRect l="-36050" r="-30974"/>
            </a:stretch>
          </a:blipFill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>
            <a:off x="0" y="0"/>
            <a:ext cx="4562431" cy="5130509"/>
          </a:xfrm>
          <a:custGeom>
            <a:avLst/>
            <a:gdLst/>
            <a:ahLst/>
            <a:cxnLst/>
            <a:rect l="l" t="t" r="r" b="b"/>
            <a:pathLst>
              <a:path w="9554829" h="10633179" extrusionOk="0">
                <a:moveTo>
                  <a:pt x="0" y="0"/>
                </a:moveTo>
                <a:lnTo>
                  <a:pt x="9554829" y="0"/>
                </a:lnTo>
                <a:lnTo>
                  <a:pt x="9554829" y="10633180"/>
                </a:lnTo>
                <a:lnTo>
                  <a:pt x="0" y="10633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5000"/>
            </a:blip>
            <a:stretch>
              <a:fillRect l="-36050" r="-30974"/>
            </a:stretch>
          </a:blipFill>
          <a:ln>
            <a:noFill/>
          </a:ln>
        </p:spPr>
      </p:sp>
      <p:sp>
        <p:nvSpPr>
          <p:cNvPr id="131" name="Google Shape;131;p25"/>
          <p:cNvSpPr/>
          <p:nvPr/>
        </p:nvSpPr>
        <p:spPr>
          <a:xfrm>
            <a:off x="4798470" y="743550"/>
            <a:ext cx="3475431" cy="3320666"/>
          </a:xfrm>
          <a:custGeom>
            <a:avLst/>
            <a:gdLst/>
            <a:ahLst/>
            <a:cxnLst/>
            <a:rect l="l" t="t" r="r" b="b"/>
            <a:pathLst>
              <a:path w="6950861" h="6641331" extrusionOk="0">
                <a:moveTo>
                  <a:pt x="0" y="0"/>
                </a:moveTo>
                <a:lnTo>
                  <a:pt x="6950861" y="0"/>
                </a:lnTo>
                <a:lnTo>
                  <a:pt x="6950861" y="6641332"/>
                </a:lnTo>
                <a:lnTo>
                  <a:pt x="0" y="6641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0354" t="-20481" r="-30354" b="-47713"/>
            </a:stretch>
          </a:blipFill>
          <a:ln>
            <a:noFill/>
          </a:ln>
        </p:spPr>
      </p:sp>
      <p:sp>
        <p:nvSpPr>
          <p:cNvPr id="132" name="Google Shape;132;p25"/>
          <p:cNvSpPr txBox="1"/>
          <p:nvPr/>
        </p:nvSpPr>
        <p:spPr>
          <a:xfrm>
            <a:off x="514350" y="1746000"/>
            <a:ext cx="4057800" cy="12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6300" b="1" i="0" u="none" strike="noStrike" cap="none" dirty="0">
                <a:solidFill>
                  <a:srgbClr val="FF313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fr" sz="6300" b="1" i="0" u="none" strike="noStrike" cap="none" dirty="0">
                <a:solidFill>
                  <a:srgbClr val="ED743E"/>
                </a:solidFill>
                <a:latin typeface="Barlow"/>
                <a:ea typeface="Barlow"/>
                <a:cs typeface="Barlow"/>
                <a:sym typeface="Barlow"/>
              </a:rPr>
              <a:t>VulcaData</a:t>
            </a:r>
            <a:endParaRPr sz="700" dirty="0">
              <a:solidFill>
                <a:srgbClr val="ED743E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>
                <a:solidFill>
                  <a:srgbClr val="FF3131"/>
                </a:solidFill>
                <a:latin typeface="Barlow"/>
                <a:ea typeface="Barlow"/>
                <a:cs typeface="Barlow"/>
                <a:sym typeface="Barlow"/>
              </a:rPr>
              <a:t>          </a:t>
            </a:r>
            <a:r>
              <a:rPr lang="fr" sz="2000" b="1" i="0" u="none" strike="noStrike" cap="none" dirty="0">
                <a:solidFill>
                  <a:srgbClr val="ED743E"/>
                </a:solidFill>
                <a:latin typeface="Barlow"/>
                <a:ea typeface="Barlow"/>
                <a:cs typeface="Barlow"/>
                <a:sym typeface="Barlow"/>
              </a:rPr>
              <a:t>PRÉDIRE L’IMPRÉVISIBLE</a:t>
            </a:r>
            <a:endParaRPr sz="700" dirty="0">
              <a:solidFill>
                <a:srgbClr val="ED743E"/>
              </a:solidFill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1667476" y="4333875"/>
            <a:ext cx="5808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0" i="1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Projet de prédiction d’éruptions volcaniques </a:t>
            </a:r>
            <a:endParaRPr sz="700"/>
          </a:p>
        </p:txBody>
      </p:sp>
      <p:sp>
        <p:nvSpPr>
          <p:cNvPr id="134" name="Google Shape;134;p25"/>
          <p:cNvSpPr txBox="1"/>
          <p:nvPr/>
        </p:nvSpPr>
        <p:spPr>
          <a:xfrm>
            <a:off x="8299200" y="4517150"/>
            <a:ext cx="6852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714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1C47AE-88F9-7A81-9ACD-A87F22FFDC1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Google Shape;141;p26"/>
          <p:cNvSpPr/>
          <p:nvPr/>
        </p:nvSpPr>
        <p:spPr>
          <a:xfrm>
            <a:off x="7356016" y="2633012"/>
            <a:ext cx="759773" cy="759773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B171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6"/>
          <p:cNvSpPr/>
          <p:nvPr/>
        </p:nvSpPr>
        <p:spPr>
          <a:xfrm>
            <a:off x="5261565" y="2633012"/>
            <a:ext cx="759772" cy="759773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B171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6"/>
          <p:cNvSpPr/>
          <p:nvPr/>
        </p:nvSpPr>
        <p:spPr>
          <a:xfrm>
            <a:off x="3141316" y="2633012"/>
            <a:ext cx="759773" cy="759773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B171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6"/>
          <p:cNvSpPr/>
          <p:nvPr/>
        </p:nvSpPr>
        <p:spPr>
          <a:xfrm>
            <a:off x="1180102" y="2633012"/>
            <a:ext cx="759773" cy="759773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B1714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6"/>
          <p:cNvSpPr/>
          <p:nvPr/>
        </p:nvSpPr>
        <p:spPr>
          <a:xfrm>
            <a:off x="7200935" y="2104576"/>
            <a:ext cx="1069933" cy="1288208"/>
          </a:xfrm>
          <a:custGeom>
            <a:avLst/>
            <a:gdLst/>
            <a:ahLst/>
            <a:cxnLst/>
            <a:rect l="l" t="t" r="r" b="b"/>
            <a:pathLst>
              <a:path w="2139867" h="2576417" extrusionOk="0">
                <a:moveTo>
                  <a:pt x="0" y="0"/>
                </a:moveTo>
                <a:lnTo>
                  <a:pt x="2139867" y="0"/>
                </a:lnTo>
                <a:lnTo>
                  <a:pt x="2139867" y="2576418"/>
                </a:lnTo>
                <a:lnTo>
                  <a:pt x="0" y="2576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1518"/>
            </a:stretch>
          </a:blipFill>
          <a:ln>
            <a:noFill/>
          </a:ln>
        </p:spPr>
      </p:sp>
      <p:sp>
        <p:nvSpPr>
          <p:cNvPr id="146" name="Google Shape;146;p26"/>
          <p:cNvSpPr/>
          <p:nvPr/>
        </p:nvSpPr>
        <p:spPr>
          <a:xfrm>
            <a:off x="5106484" y="2104576"/>
            <a:ext cx="1069934" cy="1288208"/>
          </a:xfrm>
          <a:custGeom>
            <a:avLst/>
            <a:gdLst/>
            <a:ahLst/>
            <a:cxnLst/>
            <a:rect l="l" t="t" r="r" b="b"/>
            <a:pathLst>
              <a:path w="2139867" h="2576417" extrusionOk="0">
                <a:moveTo>
                  <a:pt x="0" y="0"/>
                </a:moveTo>
                <a:lnTo>
                  <a:pt x="2139867" y="0"/>
                </a:lnTo>
                <a:lnTo>
                  <a:pt x="2139867" y="2576418"/>
                </a:lnTo>
                <a:lnTo>
                  <a:pt x="0" y="2576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1518"/>
            </a:stretch>
          </a:blipFill>
          <a:ln>
            <a:noFill/>
          </a:ln>
        </p:spPr>
      </p:sp>
      <p:sp>
        <p:nvSpPr>
          <p:cNvPr id="147" name="Google Shape;147;p26"/>
          <p:cNvSpPr/>
          <p:nvPr/>
        </p:nvSpPr>
        <p:spPr>
          <a:xfrm>
            <a:off x="1047445" y="2104576"/>
            <a:ext cx="1069934" cy="1288208"/>
          </a:xfrm>
          <a:custGeom>
            <a:avLst/>
            <a:gdLst/>
            <a:ahLst/>
            <a:cxnLst/>
            <a:rect l="l" t="t" r="r" b="b"/>
            <a:pathLst>
              <a:path w="2139867" h="2576417" extrusionOk="0">
                <a:moveTo>
                  <a:pt x="0" y="0"/>
                </a:moveTo>
                <a:lnTo>
                  <a:pt x="2139867" y="0"/>
                </a:lnTo>
                <a:lnTo>
                  <a:pt x="2139867" y="2576418"/>
                </a:lnTo>
                <a:lnTo>
                  <a:pt x="0" y="2576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11518"/>
            </a:stretch>
          </a:blipFill>
          <a:ln>
            <a:noFill/>
          </a:ln>
        </p:spPr>
      </p:sp>
      <p:sp>
        <p:nvSpPr>
          <p:cNvPr id="148" name="Google Shape;148;p26"/>
          <p:cNvSpPr/>
          <p:nvPr/>
        </p:nvSpPr>
        <p:spPr>
          <a:xfrm>
            <a:off x="3091224" y="2201705"/>
            <a:ext cx="859956" cy="1093951"/>
          </a:xfrm>
          <a:custGeom>
            <a:avLst/>
            <a:gdLst/>
            <a:ahLst/>
            <a:cxnLst/>
            <a:rect l="l" t="t" r="r" b="b"/>
            <a:pathLst>
              <a:path w="1719911" h="2187902" extrusionOk="0">
                <a:moveTo>
                  <a:pt x="0" y="0"/>
                </a:moveTo>
                <a:lnTo>
                  <a:pt x="1719911" y="0"/>
                </a:lnTo>
                <a:lnTo>
                  <a:pt x="1719911" y="2187902"/>
                </a:lnTo>
                <a:lnTo>
                  <a:pt x="0" y="21879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359" r="-1358"/>
            </a:stretch>
          </a:blipFill>
          <a:ln>
            <a:noFill/>
          </a:ln>
        </p:spPr>
      </p:sp>
      <p:sp>
        <p:nvSpPr>
          <p:cNvPr id="149" name="Google Shape;149;p26"/>
          <p:cNvSpPr txBox="1"/>
          <p:nvPr/>
        </p:nvSpPr>
        <p:spPr>
          <a:xfrm>
            <a:off x="917831" y="868753"/>
            <a:ext cx="730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i="0" u="none" strike="noStrike" cap="none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L’ÉQUIPE</a:t>
            </a:r>
            <a:endParaRPr sz="3000"/>
          </a:p>
        </p:txBody>
      </p:sp>
      <p:sp>
        <p:nvSpPr>
          <p:cNvPr id="150" name="Google Shape;150;p26"/>
          <p:cNvSpPr txBox="1"/>
          <p:nvPr/>
        </p:nvSpPr>
        <p:spPr>
          <a:xfrm>
            <a:off x="590295" y="3527402"/>
            <a:ext cx="193938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0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David</a:t>
            </a: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dirty="0">
                <a:solidFill>
                  <a:schemeClr val="tx1"/>
                </a:solidFill>
                <a:latin typeface="Montserrat"/>
                <a:sym typeface="Montserrat"/>
              </a:rPr>
              <a:t>PEREIRA</a:t>
            </a:r>
            <a:endParaRPr sz="700" dirty="0">
              <a:solidFill>
                <a:schemeClr val="tx1"/>
              </a:solidFill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2551509" y="3527402"/>
            <a:ext cx="193938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0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Emmeline</a:t>
            </a: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dirty="0">
                <a:solidFill>
                  <a:schemeClr val="tx1"/>
                </a:solidFill>
                <a:latin typeface="Montserrat"/>
                <a:sym typeface="Montserrat"/>
              </a:rPr>
              <a:t>CARO</a:t>
            </a:r>
            <a:endParaRPr sz="700" dirty="0">
              <a:solidFill>
                <a:schemeClr val="tx1"/>
              </a:solidFill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4671758" y="3527402"/>
            <a:ext cx="193938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0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Gabriel</a:t>
            </a: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dirty="0">
                <a:solidFill>
                  <a:schemeClr val="tx1"/>
                </a:solidFill>
                <a:latin typeface="Montserrat"/>
                <a:sym typeface="Montserrat"/>
              </a:rPr>
              <a:t>PONROY</a:t>
            </a:r>
            <a:endParaRPr sz="700" dirty="0">
              <a:solidFill>
                <a:schemeClr val="tx1"/>
              </a:solidFill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6766208" y="3527402"/>
            <a:ext cx="193938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0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Mathias</a:t>
            </a: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dirty="0">
                <a:solidFill>
                  <a:schemeClr val="tx1"/>
                </a:solidFill>
                <a:latin typeface="Montserrat"/>
                <a:sym typeface="Montserrat"/>
              </a:rPr>
              <a:t>COLSON</a:t>
            </a:r>
            <a:endParaRPr sz="700" dirty="0">
              <a:solidFill>
                <a:schemeClr val="tx1"/>
              </a:solidFill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8329650" y="4469300"/>
            <a:ext cx="64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714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3A3AE3-E8D3-AD0A-587B-C93E369742C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Google Shape;161;p27"/>
          <p:cNvSpPr/>
          <p:nvPr/>
        </p:nvSpPr>
        <p:spPr>
          <a:xfrm>
            <a:off x="6188025" y="2124799"/>
            <a:ext cx="2884295" cy="1421604"/>
          </a:xfrm>
          <a:custGeom>
            <a:avLst/>
            <a:gdLst/>
            <a:ahLst/>
            <a:cxnLst/>
            <a:rect l="l" t="t" r="r" b="b"/>
            <a:pathLst>
              <a:path w="10584570" h="6389231" extrusionOk="0">
                <a:moveTo>
                  <a:pt x="0" y="0"/>
                </a:moveTo>
                <a:lnTo>
                  <a:pt x="10584570" y="0"/>
                </a:lnTo>
                <a:lnTo>
                  <a:pt x="10584570" y="6389231"/>
                </a:lnTo>
                <a:lnTo>
                  <a:pt x="0" y="6389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2" name="Google Shape;162;p27"/>
          <p:cNvSpPr txBox="1"/>
          <p:nvPr/>
        </p:nvSpPr>
        <p:spPr>
          <a:xfrm>
            <a:off x="621600" y="297975"/>
            <a:ext cx="790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CONTEXTE</a:t>
            </a:r>
            <a:endParaRPr sz="3000" b="1">
              <a:solidFill>
                <a:srgbClr val="ED743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621600" y="1017400"/>
            <a:ext cx="6285600" cy="190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Pourquoi ?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Sujet d’étude nouveau + passionnant</a:t>
            </a:r>
            <a:endParaRPr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Piton de la Fournaise : volcan très actif</a:t>
            </a:r>
            <a:endParaRPr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Signaux précurseurs mesurables : sismicité</a:t>
            </a:r>
            <a:endParaRPr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</a:pPr>
            <a:r>
              <a:rPr lang="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Cadre idéal pour Data sciences</a:t>
            </a:r>
            <a:endParaRPr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621600" y="2980625"/>
            <a:ext cx="6176700" cy="18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Notre mission</a:t>
            </a:r>
            <a:endParaRPr sz="18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Créer un modèle capable de prédire </a:t>
            </a:r>
            <a:r>
              <a:rPr lang="fr" sz="18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la probabilité d’éruption dans les prochaines heures</a:t>
            </a:r>
            <a:r>
              <a:rPr lang="fr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à partir de signaux géo-sismiques mesurés en continu.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8275275" y="4436675"/>
            <a:ext cx="676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714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ECB416-ED91-2260-A297-5A28A364D41C}"/>
              </a:ext>
            </a:extLst>
          </p:cNvPr>
          <p:cNvSpPr/>
          <p:nvPr/>
        </p:nvSpPr>
        <p:spPr>
          <a:xfrm>
            <a:off x="0" y="0"/>
            <a:ext cx="9134431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4" name="Google Shape;174;p28"/>
          <p:cNvSpPr txBox="1"/>
          <p:nvPr/>
        </p:nvSpPr>
        <p:spPr>
          <a:xfrm>
            <a:off x="8220300" y="4469300"/>
            <a:ext cx="741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ACDA5F2-B4C6-D9F3-86D6-60B656859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10" y="181600"/>
            <a:ext cx="8700410" cy="444260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714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3E9018B-4B3E-60B0-E669-A0DF7281FD27}"/>
              </a:ext>
            </a:extLst>
          </p:cNvPr>
          <p:cNvSpPr/>
          <p:nvPr/>
        </p:nvSpPr>
        <p:spPr>
          <a:xfrm>
            <a:off x="0" y="0"/>
            <a:ext cx="9134431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Google Shape;185;p29"/>
          <p:cNvSpPr txBox="1"/>
          <p:nvPr/>
        </p:nvSpPr>
        <p:spPr>
          <a:xfrm>
            <a:off x="8271650" y="4523600"/>
            <a:ext cx="77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18459A3-55F0-7CC7-1060-B85FE0A3D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85" y="127300"/>
            <a:ext cx="8604660" cy="4696179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714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E3FA2-CFC8-28BD-9B14-2070091EFC34}"/>
              </a:ext>
            </a:extLst>
          </p:cNvPr>
          <p:cNvSpPr/>
          <p:nvPr/>
        </p:nvSpPr>
        <p:spPr>
          <a:xfrm>
            <a:off x="0" y="0"/>
            <a:ext cx="9134431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4" name="Google Shape;194;p30"/>
          <p:cNvSpPr txBox="1"/>
          <p:nvPr/>
        </p:nvSpPr>
        <p:spPr>
          <a:xfrm>
            <a:off x="8445600" y="4556300"/>
            <a:ext cx="633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347B0C2-273D-BEB2-9345-CC4411138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97" y="239486"/>
            <a:ext cx="8879717" cy="3976914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71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3BF10E-7432-ACB3-7FD5-BFCEACD01911}"/>
              </a:ext>
            </a:extLst>
          </p:cNvPr>
          <p:cNvSpPr/>
          <p:nvPr/>
        </p:nvSpPr>
        <p:spPr>
          <a:xfrm>
            <a:off x="0" y="0"/>
            <a:ext cx="9134431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3" name="Google Shape;203;p31"/>
          <p:cNvSpPr txBox="1"/>
          <p:nvPr/>
        </p:nvSpPr>
        <p:spPr>
          <a:xfrm>
            <a:off x="476350" y="174325"/>
            <a:ext cx="81153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DASHBOARD &amp; VISUALISATION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8447125" y="4589575"/>
            <a:ext cx="68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930AC30-5E1D-37C5-C5E2-7D26E6F08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" y="587831"/>
            <a:ext cx="7017928" cy="294640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3A41F18-ECD0-2113-6B43-6A218DAE5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928" y="587831"/>
            <a:ext cx="2114173" cy="3017157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714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A84A5F-601A-18E2-9CFD-42152A02F4BB}"/>
              </a:ext>
            </a:extLst>
          </p:cNvPr>
          <p:cNvSpPr/>
          <p:nvPr/>
        </p:nvSpPr>
        <p:spPr>
          <a:xfrm>
            <a:off x="0" y="0"/>
            <a:ext cx="9134431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2" name="Google Shape;212;p32"/>
          <p:cNvSpPr txBox="1"/>
          <p:nvPr/>
        </p:nvSpPr>
        <p:spPr>
          <a:xfrm>
            <a:off x="514350" y="124675"/>
            <a:ext cx="811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ET APRÈS ?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0" y="978363"/>
            <a:ext cx="4495587" cy="39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" sz="1300" b="1" dirty="0">
                <a:solidFill>
                  <a:schemeClr val="tx1"/>
                </a:solidFill>
              </a:rPr>
              <a:t> </a:t>
            </a:r>
            <a:r>
              <a:rPr lang="fr" sz="1800" b="1" dirty="0">
                <a:solidFill>
                  <a:schemeClr val="tx1"/>
                </a:solidFill>
              </a:rPr>
              <a:t>➕</a:t>
            </a:r>
            <a:r>
              <a:rPr lang="fr" sz="1200" b="1" dirty="0">
                <a:solidFill>
                  <a:schemeClr val="tx1"/>
                </a:solidFill>
              </a:rPr>
              <a:t> </a:t>
            </a:r>
            <a:r>
              <a:rPr lang="fr" sz="12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Augmenter le volume de données d’entrainement</a:t>
            </a:r>
            <a:endParaRPr sz="1200"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238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Tx/>
              <a:buChar char="-"/>
            </a:pPr>
            <a:r>
              <a:rPr lang="fr-FR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L’entrainement initial a été réalisé sur un volume faible pour des raison de contraintes logistiques</a:t>
            </a:r>
          </a:p>
          <a:p>
            <a:pPr marL="323850" lvl="0" indent="-171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Tx/>
              <a:buChar char="-"/>
            </a:pPr>
            <a:r>
              <a:rPr lang="fr-FR" sz="12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Connecter le pipeline pour entrainer le modèle sur la totalité des données disponibles permettrait d’améliorer sensiblement la qualité des prédictions</a:t>
            </a:r>
            <a:endParaRPr sz="12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lang="fr-FR" sz="1300" b="1" dirty="0">
                <a:solidFill>
                  <a:schemeClr val="tx1"/>
                </a:solidFill>
              </a:rPr>
              <a:t> </a:t>
            </a:r>
            <a:r>
              <a:rPr lang="fr-FR" sz="1800" b="1" dirty="0">
                <a:solidFill>
                  <a:schemeClr val="tx1"/>
                </a:solidFill>
              </a:rPr>
              <a:t>➕</a:t>
            </a:r>
            <a:r>
              <a:rPr lang="fr-FR" sz="1200" b="1" dirty="0">
                <a:solidFill>
                  <a:schemeClr val="tx1"/>
                </a:solidFill>
              </a:rPr>
              <a:t> </a:t>
            </a:r>
            <a:r>
              <a:rPr lang="fr-FR" sz="12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Intégrer d’autres types de données</a:t>
            </a:r>
          </a:p>
          <a:p>
            <a:pPr marL="171450" indent="-171450">
              <a:lnSpc>
                <a:spcPct val="115000"/>
              </a:lnSpc>
              <a:spcBef>
                <a:spcPts val="1400"/>
              </a:spcBef>
              <a:buFont typeface="Courier New" panose="02070309020205020404" pitchFamily="49" charset="0"/>
              <a:buChar char="o"/>
            </a:pPr>
            <a:r>
              <a:rPr lang="fr-FR" sz="1200" dirty="0">
                <a:solidFill>
                  <a:schemeClr val="tx1"/>
                </a:solidFill>
                <a:latin typeface="Montserrat"/>
                <a:sym typeface="Montserrat"/>
              </a:rPr>
              <a:t>- Composition des gaz</a:t>
            </a:r>
          </a:p>
          <a:p>
            <a:pPr marL="171450" indent="-171450">
              <a:lnSpc>
                <a:spcPct val="115000"/>
              </a:lnSpc>
              <a:spcBef>
                <a:spcPts val="1400"/>
              </a:spcBef>
              <a:buFont typeface="Courier New" panose="02070309020205020404" pitchFamily="49" charset="0"/>
              <a:buChar char="o"/>
            </a:pPr>
            <a:r>
              <a:rPr lang="fr-FR" sz="1200" dirty="0">
                <a:solidFill>
                  <a:schemeClr val="tx1"/>
                </a:solidFill>
                <a:latin typeface="Montserrat"/>
                <a:sym typeface="Montserrat"/>
              </a:rPr>
              <a:t>-  Mesure de la déformation des sols</a:t>
            </a:r>
          </a:p>
          <a:p>
            <a:pPr marL="171450" indent="-171450">
              <a:lnSpc>
                <a:spcPct val="115000"/>
              </a:lnSpc>
              <a:spcBef>
                <a:spcPts val="1400"/>
              </a:spcBef>
              <a:buFont typeface="Courier New" panose="02070309020205020404" pitchFamily="49" charset="0"/>
              <a:buChar char="o"/>
            </a:pPr>
            <a:r>
              <a:rPr lang="fr-FR" sz="1200" dirty="0">
                <a:solidFill>
                  <a:schemeClr val="tx1"/>
                </a:solidFill>
                <a:latin typeface="Montserrat"/>
                <a:sym typeface="Montserrat"/>
              </a:rPr>
              <a:t>- imagerie thermique</a:t>
            </a: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32"/>
          <p:cNvSpPr/>
          <p:nvPr/>
        </p:nvSpPr>
        <p:spPr>
          <a:xfrm>
            <a:off x="7413877" y="3725369"/>
            <a:ext cx="901309" cy="1185649"/>
          </a:xfrm>
          <a:custGeom>
            <a:avLst/>
            <a:gdLst/>
            <a:ahLst/>
            <a:cxnLst/>
            <a:rect l="l" t="t" r="r" b="b"/>
            <a:pathLst>
              <a:path w="9521612" h="10051605" extrusionOk="0">
                <a:moveTo>
                  <a:pt x="0" y="0"/>
                </a:moveTo>
                <a:lnTo>
                  <a:pt x="9521612" y="0"/>
                </a:lnTo>
                <a:lnTo>
                  <a:pt x="9521612" y="10051606"/>
                </a:lnTo>
                <a:lnTo>
                  <a:pt x="0" y="10051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5" name="Google Shape;215;p32"/>
          <p:cNvSpPr txBox="1"/>
          <p:nvPr/>
        </p:nvSpPr>
        <p:spPr>
          <a:xfrm>
            <a:off x="8391600" y="4644400"/>
            <a:ext cx="752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C187C60-C437-D406-EB3F-E29BBD7DBBA7}"/>
              </a:ext>
            </a:extLst>
          </p:cNvPr>
          <p:cNvSpPr txBox="1"/>
          <p:nvPr/>
        </p:nvSpPr>
        <p:spPr>
          <a:xfrm>
            <a:off x="4796758" y="1176143"/>
            <a:ext cx="4347242" cy="279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" sz="14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🤖 Explorerd’autres m</a:t>
            </a:r>
            <a:r>
              <a:rPr lang="fr-FR" sz="14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odèles</a:t>
            </a:r>
            <a:r>
              <a:rPr lang="fr-FR" sz="14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prédictifs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fr-FR" sz="14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STAX</a:t>
            </a:r>
            <a: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(Transformer spécialisé volcans)</a:t>
            </a:r>
            <a:b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fr-FR" sz="14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fr-FR" sz="14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EQTransformer</a:t>
            </a:r>
            <a: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(détection sismique avancée)</a:t>
            </a: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" sz="14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🌋 </a:t>
            </a:r>
            <a:r>
              <a:rPr lang="fr-FR" sz="14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Volcans similaires à ajouter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fr-FR" sz="14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Kīlauea</a:t>
            </a:r>
            <a: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(Hawaï)</a:t>
            </a:r>
            <a:b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fr-FR" sz="14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fr-FR" sz="14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Etna</a:t>
            </a:r>
            <a:r>
              <a:rPr lang="fr-FR" sz="1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(Italie)</a:t>
            </a:r>
            <a:endParaRPr 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714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976671-E619-02A3-5DFF-6E0A080FD1BD}"/>
              </a:ext>
            </a:extLst>
          </p:cNvPr>
          <p:cNvSpPr/>
          <p:nvPr/>
        </p:nvSpPr>
        <p:spPr>
          <a:xfrm>
            <a:off x="0" y="0"/>
            <a:ext cx="9134431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2" name="Google Shape;222;p33"/>
          <p:cNvSpPr/>
          <p:nvPr/>
        </p:nvSpPr>
        <p:spPr>
          <a:xfrm>
            <a:off x="969225" y="1395588"/>
            <a:ext cx="2623966" cy="2467636"/>
          </a:xfrm>
          <a:custGeom>
            <a:avLst/>
            <a:gdLst/>
            <a:ahLst/>
            <a:cxnLst/>
            <a:rect l="l" t="t" r="r" b="b"/>
            <a:pathLst>
              <a:path w="8264460" h="7896435" extrusionOk="0">
                <a:moveTo>
                  <a:pt x="0" y="0"/>
                </a:moveTo>
                <a:lnTo>
                  <a:pt x="8264460" y="0"/>
                </a:lnTo>
                <a:lnTo>
                  <a:pt x="8264460" y="7896434"/>
                </a:lnTo>
                <a:lnTo>
                  <a:pt x="0" y="7896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0354" t="-20481" r="-30354" b="-47713"/>
            </a:stretch>
          </a:blipFill>
          <a:ln>
            <a:noFill/>
          </a:ln>
        </p:spPr>
      </p:sp>
      <p:sp>
        <p:nvSpPr>
          <p:cNvPr id="223" name="Google Shape;223;p33"/>
          <p:cNvSpPr txBox="1"/>
          <p:nvPr/>
        </p:nvSpPr>
        <p:spPr>
          <a:xfrm>
            <a:off x="2587651" y="259844"/>
            <a:ext cx="3968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i="0" u="none" strike="noStrike" cap="none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MERCI ! </a:t>
            </a:r>
            <a:endParaRPr sz="3000"/>
          </a:p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i="0" u="none" strike="noStrike" cap="none">
                <a:solidFill>
                  <a:srgbClr val="ED743E"/>
                </a:solidFill>
                <a:latin typeface="Montserrat"/>
                <a:ea typeface="Montserrat"/>
                <a:cs typeface="Montserrat"/>
                <a:sym typeface="Montserrat"/>
              </a:rPr>
              <a:t>QUESTIONS ?</a:t>
            </a:r>
            <a:endParaRPr sz="3000"/>
          </a:p>
        </p:txBody>
      </p:sp>
      <p:sp>
        <p:nvSpPr>
          <p:cNvPr id="224" name="Google Shape;224;p33"/>
          <p:cNvSpPr txBox="1"/>
          <p:nvPr/>
        </p:nvSpPr>
        <p:spPr>
          <a:xfrm>
            <a:off x="3926114" y="2820265"/>
            <a:ext cx="4168199" cy="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1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https://vartkirl-vulcadata-dashboard.hf.space/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33" title="hf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6666" y="2182474"/>
            <a:ext cx="778576" cy="77857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3"/>
          <p:cNvSpPr txBox="1"/>
          <p:nvPr/>
        </p:nvSpPr>
        <p:spPr>
          <a:xfrm>
            <a:off x="8434725" y="4556300"/>
            <a:ext cx="633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193</Words>
  <Application>Microsoft Office PowerPoint</Application>
  <PresentationFormat>Affichage à l'écran (16:9)</PresentationFormat>
  <Paragraphs>47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Courier New</vt:lpstr>
      <vt:lpstr>Barlow</vt:lpstr>
      <vt:lpstr>Calibri</vt:lpstr>
      <vt:lpstr>Montserrat</vt:lpstr>
      <vt:lpstr>Arial</vt:lpstr>
      <vt:lpstr>Simple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Antoine C</cp:lastModifiedBy>
  <cp:revision>6</cp:revision>
  <dcterms:modified xsi:type="dcterms:W3CDTF">2026-06-21T09:59:00Z</dcterms:modified>
</cp:coreProperties>
</file>