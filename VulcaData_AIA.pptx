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5"/>
  </p:notesMasterIdLst>
  <p:sldIdLst>
    <p:sldId id="256" r:id="rId3"/>
    <p:sldId id="258" r:id="rId4"/>
    <p:sldId id="259" r:id="rId5"/>
    <p:sldId id="268" r:id="rId6"/>
    <p:sldId id="260" r:id="rId7"/>
    <p:sldId id="261" r:id="rId8"/>
    <p:sldId id="262" r:id="rId9"/>
    <p:sldId id="263" r:id="rId10"/>
    <p:sldId id="269" r:id="rId11"/>
    <p:sldId id="265" r:id="rId12"/>
    <p:sldId id="266" r:id="rId13"/>
    <p:sldId id="270" r:id="rId14"/>
  </p:sldIdLst>
  <p:sldSz cx="9144000" cy="5143500" type="screen16x9"/>
  <p:notesSz cx="6858000" cy="9144000"/>
  <p:embeddedFontLst>
    <p:embeddedFont>
      <p:font typeface="Barlow" panose="00000500000000000000" pitchFamily="2" charset="0"/>
      <p:regular r:id="rId16"/>
      <p:bold r:id="rId17"/>
      <p:italic r:id="rId18"/>
      <p:boldItalic r:id="rId19"/>
    </p:embeddedFont>
    <p:embeddedFont>
      <p:font typeface="Montserrat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D1D1"/>
    <a:srgbClr val="ED743E"/>
    <a:srgbClr val="BEBEBE"/>
    <a:srgbClr val="9A390E"/>
    <a:srgbClr val="F5B395"/>
    <a:srgbClr val="FABF8E"/>
    <a:srgbClr val="B5CD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font" Target="fonts/font6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6416256a4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3a6416256a4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58d65c382_2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a58d65c382_2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b5c6b3c95d_2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g3b5c6b3c95d_2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5c6b3c95d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g3b5c6b3c95d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5c6b3c95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g3b5c6b3c95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5c6b3c95d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g3b5c6b3c95d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6416256a4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g3a6416256a4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>
          <a:extLst>
            <a:ext uri="{FF2B5EF4-FFF2-40B4-BE49-F238E27FC236}">
              <a16:creationId xmlns:a16="http://schemas.microsoft.com/office/drawing/2014/main" id="{BA100D85-61F6-1003-411D-58C4B868F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6416256a4_0_80:notes">
            <a:extLst>
              <a:ext uri="{FF2B5EF4-FFF2-40B4-BE49-F238E27FC236}">
                <a16:creationId xmlns:a16="http://schemas.microsoft.com/office/drawing/2014/main" id="{A41DD49E-1B90-C9B1-011A-A30948E020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g3a6416256a4_0_80:notes">
            <a:extLst>
              <a:ext uri="{FF2B5EF4-FFF2-40B4-BE49-F238E27FC236}">
                <a16:creationId xmlns:a16="http://schemas.microsoft.com/office/drawing/2014/main" id="{704E658D-B4CF-3F64-E498-A7E09DCC05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600629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a6416256a4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g3a6416256a4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b5c6b3c95d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g3b5c6b3c95d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>
          <a:extLst>
            <a:ext uri="{FF2B5EF4-FFF2-40B4-BE49-F238E27FC236}">
              <a16:creationId xmlns:a16="http://schemas.microsoft.com/office/drawing/2014/main" id="{C80AA75A-1CB5-65E9-B976-60A0DFFED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b5c6b3c95d_2_34:notes">
            <a:extLst>
              <a:ext uri="{FF2B5EF4-FFF2-40B4-BE49-F238E27FC236}">
                <a16:creationId xmlns:a16="http://schemas.microsoft.com/office/drawing/2014/main" id="{9B113C46-06A8-2DB8-BD73-C05C735157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g3b5c6b3c95d_2_34:notes">
            <a:extLst>
              <a:ext uri="{FF2B5EF4-FFF2-40B4-BE49-F238E27FC236}">
                <a16:creationId xmlns:a16="http://schemas.microsoft.com/office/drawing/2014/main" id="{E8A0809A-6304-CEF7-27AD-148AA5DB99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2636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body" idx="2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1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2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3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4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marL="2286000" lvl="4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marL="2743200" lvl="5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marR="0" lvl="0" indent="-330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19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21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/>
          <p:nvPr/>
        </p:nvSpPr>
        <p:spPr>
          <a:xfrm>
            <a:off x="4798470" y="743550"/>
            <a:ext cx="3475431" cy="3320666"/>
          </a:xfrm>
          <a:custGeom>
            <a:avLst/>
            <a:gdLst/>
            <a:ahLst/>
            <a:cxnLst/>
            <a:rect l="l" t="t" r="r" b="b"/>
            <a:pathLst>
              <a:path w="6950861" h="6641331" extrusionOk="0">
                <a:moveTo>
                  <a:pt x="0" y="0"/>
                </a:moveTo>
                <a:lnTo>
                  <a:pt x="6950861" y="0"/>
                </a:lnTo>
                <a:lnTo>
                  <a:pt x="6950861" y="6641332"/>
                </a:lnTo>
                <a:lnTo>
                  <a:pt x="0" y="66413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30354" t="-20481" r="-30354" b="-47713"/>
            </a:stretch>
          </a:blipFill>
          <a:ln>
            <a:noFill/>
          </a:ln>
        </p:spPr>
      </p:sp>
      <p:sp>
        <p:nvSpPr>
          <p:cNvPr id="132" name="Google Shape;132;p25"/>
          <p:cNvSpPr txBox="1"/>
          <p:nvPr/>
        </p:nvSpPr>
        <p:spPr>
          <a:xfrm>
            <a:off x="514350" y="1746000"/>
            <a:ext cx="4057800" cy="12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300" b="1" i="0" u="none" strike="noStrike" cap="none">
                <a:solidFill>
                  <a:srgbClr val="FF313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fr" sz="6300" b="1" i="0" u="none" strike="noStrike" cap="none">
                <a:solidFill>
                  <a:srgbClr val="ED743E"/>
                </a:solidFill>
                <a:latin typeface="Barlow"/>
                <a:ea typeface="Barlow"/>
                <a:cs typeface="Barlow"/>
                <a:sym typeface="Barlow"/>
              </a:rPr>
              <a:t>VulcaData</a:t>
            </a:r>
            <a:endParaRPr sz="700">
              <a:solidFill>
                <a:srgbClr val="ED743E"/>
              </a:solidFill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1">
                <a:solidFill>
                  <a:srgbClr val="FF3131"/>
                </a:solidFill>
                <a:latin typeface="Barlow"/>
                <a:ea typeface="Barlow"/>
                <a:cs typeface="Barlow"/>
                <a:sym typeface="Barlow"/>
              </a:rPr>
              <a:t>          </a:t>
            </a:r>
            <a:r>
              <a:rPr lang="fr" sz="2000" b="1" i="0" u="none" strike="noStrike" cap="none">
                <a:solidFill>
                  <a:srgbClr val="ED743E"/>
                </a:solidFill>
                <a:latin typeface="Barlow"/>
                <a:ea typeface="Barlow"/>
                <a:cs typeface="Barlow"/>
                <a:sym typeface="Barlow"/>
              </a:rPr>
              <a:t>PRÉDIRE L’IMPRÉVISIBLE</a:t>
            </a:r>
            <a:endParaRPr sz="700">
              <a:solidFill>
                <a:srgbClr val="ED743E"/>
              </a:solidFill>
            </a:endParaRPr>
          </a:p>
        </p:txBody>
      </p:sp>
      <p:sp>
        <p:nvSpPr>
          <p:cNvPr id="133" name="Google Shape;133;p25"/>
          <p:cNvSpPr txBox="1"/>
          <p:nvPr/>
        </p:nvSpPr>
        <p:spPr>
          <a:xfrm>
            <a:off x="1667476" y="4333875"/>
            <a:ext cx="5808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0" i="1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Projet de prédiction d’éruptions volcaniques </a:t>
            </a:r>
            <a:endParaRPr sz="700"/>
          </a:p>
        </p:txBody>
      </p:sp>
      <p:sp>
        <p:nvSpPr>
          <p:cNvPr id="134" name="Google Shape;134;p25"/>
          <p:cNvSpPr txBox="1"/>
          <p:nvPr/>
        </p:nvSpPr>
        <p:spPr>
          <a:xfrm>
            <a:off x="8299200" y="4517150"/>
            <a:ext cx="685200" cy="4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/>
          <p:nvPr/>
        </p:nvSpPr>
        <p:spPr>
          <a:xfrm>
            <a:off x="6067480" y="2017808"/>
            <a:ext cx="2884295" cy="1421604"/>
          </a:xfrm>
          <a:custGeom>
            <a:avLst/>
            <a:gdLst/>
            <a:ahLst/>
            <a:cxnLst/>
            <a:rect l="l" t="t" r="r" b="b"/>
            <a:pathLst>
              <a:path w="10584570" h="6389231" extrusionOk="0">
                <a:moveTo>
                  <a:pt x="0" y="0"/>
                </a:moveTo>
                <a:lnTo>
                  <a:pt x="10584570" y="0"/>
                </a:lnTo>
                <a:lnTo>
                  <a:pt x="10584570" y="6389231"/>
                </a:lnTo>
                <a:lnTo>
                  <a:pt x="0" y="63892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0" name="Google Shape;160;p27"/>
          <p:cNvSpPr txBox="1"/>
          <p:nvPr/>
        </p:nvSpPr>
        <p:spPr>
          <a:xfrm>
            <a:off x="712725" y="2001"/>
            <a:ext cx="7900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 b="1" dirty="0">
                <a:solidFill>
                  <a:srgbClr val="ED743E"/>
                </a:solidFill>
                <a:latin typeface="Montserrat"/>
                <a:ea typeface="Montserrat"/>
                <a:cs typeface="Montserrat"/>
                <a:sym typeface="Montserrat"/>
              </a:rPr>
              <a:t>CONTEXTE</a:t>
            </a:r>
            <a:endParaRPr sz="3000" b="1" dirty="0">
              <a:solidFill>
                <a:srgbClr val="ED743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p27"/>
          <p:cNvSpPr txBox="1"/>
          <p:nvPr/>
        </p:nvSpPr>
        <p:spPr>
          <a:xfrm>
            <a:off x="0" y="1876075"/>
            <a:ext cx="6553201" cy="1746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15000"/>
              </a:lnSpc>
              <a:spcBef>
                <a:spcPts val="1200"/>
              </a:spcBef>
            </a:pPr>
            <a:r>
              <a:rPr lang="fr" sz="18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-FR" sz="18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Choix du volcan = Piton de la Fournaise </a:t>
            </a:r>
            <a:r>
              <a:rPr lang="fr-FR" sz="18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lang="fr-FR" sz="18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marL="11430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</a:pPr>
            <a:r>
              <a:rPr lang="fr-FR" sz="18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- 1 à 2 éruptions / an (actif ++)</a:t>
            </a:r>
          </a:p>
          <a:p>
            <a:pPr marL="11430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</a:pPr>
            <a:r>
              <a:rPr lang="fr" sz="18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- Données sismiques disponibles via l’observatoire</a:t>
            </a:r>
            <a:endParaRPr sz="1800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</a:pPr>
            <a:r>
              <a:rPr lang="fr" sz="18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- Signaux précurseurs mesurables : sismicité</a:t>
            </a:r>
            <a:endParaRPr lang="fr-FR" sz="1800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</a:pPr>
            <a:r>
              <a:rPr lang="fr-FR" sz="18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- Cadre idéal pour data science</a:t>
            </a:r>
          </a:p>
        </p:txBody>
      </p:sp>
      <p:sp>
        <p:nvSpPr>
          <p:cNvPr id="163" name="Google Shape;163;p27"/>
          <p:cNvSpPr txBox="1"/>
          <p:nvPr/>
        </p:nvSpPr>
        <p:spPr>
          <a:xfrm>
            <a:off x="8275275" y="4436675"/>
            <a:ext cx="676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" name="Google Shape;161;p27">
            <a:extLst>
              <a:ext uri="{FF2B5EF4-FFF2-40B4-BE49-F238E27FC236}">
                <a16:creationId xmlns:a16="http://schemas.microsoft.com/office/drawing/2014/main" id="{23EAC5B6-30E7-D7DA-4F83-D98CB895F87E}"/>
              </a:ext>
            </a:extLst>
          </p:cNvPr>
          <p:cNvSpPr txBox="1"/>
          <p:nvPr/>
        </p:nvSpPr>
        <p:spPr>
          <a:xfrm>
            <a:off x="0" y="509103"/>
            <a:ext cx="8631300" cy="1303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FR" sz="18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Référence scientifique :</a:t>
            </a:r>
            <a:endParaRPr sz="1800"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r>
              <a:rPr lang="fr-FR" sz="1800" dirty="0">
                <a:latin typeface="Montserrat" pitchFamily="2" charset="0"/>
              </a:rPr>
              <a:t>Le projet s’appuie fortement sur l’étude suivante :</a:t>
            </a:r>
          </a:p>
          <a:p>
            <a:r>
              <a:rPr lang="fr-FR" sz="1800" dirty="0" err="1">
                <a:latin typeface="Montserrat" pitchFamily="2" charset="0"/>
              </a:rPr>
              <a:t>Characterization</a:t>
            </a:r>
            <a:r>
              <a:rPr lang="fr-FR" sz="1800" dirty="0">
                <a:latin typeface="Montserrat" pitchFamily="2" charset="0"/>
              </a:rPr>
              <a:t> of </a:t>
            </a:r>
            <a:r>
              <a:rPr lang="fr-FR" sz="1800" dirty="0" err="1">
                <a:latin typeface="Montserrat" pitchFamily="2" charset="0"/>
              </a:rPr>
              <a:t>volcanic</a:t>
            </a:r>
            <a:r>
              <a:rPr lang="fr-FR" sz="1800" dirty="0">
                <a:latin typeface="Montserrat" pitchFamily="2" charset="0"/>
              </a:rPr>
              <a:t> stages </a:t>
            </a:r>
            <a:r>
              <a:rPr lang="fr-FR" sz="1800" dirty="0" err="1">
                <a:latin typeface="Montserrat" pitchFamily="2" charset="0"/>
              </a:rPr>
              <a:t>using</a:t>
            </a:r>
            <a:r>
              <a:rPr lang="fr-FR" sz="1800" dirty="0">
                <a:latin typeface="Montserrat" pitchFamily="2" charset="0"/>
              </a:rPr>
              <a:t> </a:t>
            </a:r>
            <a:r>
              <a:rPr lang="fr-FR" sz="1800" dirty="0" err="1">
                <a:latin typeface="Montserrat" pitchFamily="2" charset="0"/>
              </a:rPr>
              <a:t>seismic</a:t>
            </a:r>
            <a:r>
              <a:rPr lang="fr-FR" sz="1800" dirty="0">
                <a:latin typeface="Montserrat" pitchFamily="2" charset="0"/>
              </a:rPr>
              <a:t> </a:t>
            </a:r>
            <a:r>
              <a:rPr lang="fr-FR" sz="1800" dirty="0" err="1">
                <a:latin typeface="Montserrat" pitchFamily="2" charset="0"/>
              </a:rPr>
              <a:t>features</a:t>
            </a:r>
            <a:r>
              <a:rPr lang="fr-FR" sz="1800" dirty="0">
                <a:latin typeface="Montserrat" pitchFamily="2" charset="0"/>
              </a:rPr>
              <a:t>: Case of </a:t>
            </a:r>
            <a:r>
              <a:rPr lang="fr-FR" sz="1800" dirty="0" err="1">
                <a:latin typeface="Montserrat" pitchFamily="2" charset="0"/>
              </a:rPr>
              <a:t>Tajogaite</a:t>
            </a:r>
            <a:r>
              <a:rPr lang="fr-FR" sz="1800" dirty="0">
                <a:latin typeface="Montserrat" pitchFamily="2" charset="0"/>
              </a:rPr>
              <a:t> (2021) and Colima (2013–2022), publiée en 2025.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B9A304B-1DE5-C0CA-61FD-28DD179FFDBE}"/>
              </a:ext>
            </a:extLst>
          </p:cNvPr>
          <p:cNvSpPr txBox="1"/>
          <p:nvPr/>
        </p:nvSpPr>
        <p:spPr>
          <a:xfrm>
            <a:off x="0" y="3644683"/>
            <a:ext cx="8969829" cy="150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8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Notre mission :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8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Créer un modèle capable de prédire </a:t>
            </a:r>
            <a:r>
              <a:rPr lang="fr-FR" sz="18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la probabilité d’éruption dans les prochaines 24 heures</a:t>
            </a:r>
            <a:r>
              <a:rPr lang="fr-FR" sz="18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, à partir des signaux sismiques mesurés en continu et construire l’architecture autour de ce modèle.</a:t>
            </a:r>
            <a:endParaRPr lang="fr-FR" sz="18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/>
          <p:nvPr/>
        </p:nvSpPr>
        <p:spPr>
          <a:xfrm>
            <a:off x="8275275" y="4436675"/>
            <a:ext cx="676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68AF34BC-00D4-2EC8-E212-A787A7E086D1}"/>
              </a:ext>
            </a:extLst>
          </p:cNvPr>
          <p:cNvSpPr txBox="1"/>
          <p:nvPr/>
        </p:nvSpPr>
        <p:spPr>
          <a:xfrm>
            <a:off x="215174" y="3038476"/>
            <a:ext cx="87136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Les signaux </a:t>
            </a:r>
            <a:r>
              <a:rPr lang="fr-FR" dirty="0" err="1"/>
              <a:t>MiniSEED</a:t>
            </a:r>
            <a:r>
              <a:rPr lang="fr-FR" dirty="0"/>
              <a:t> ne sont pas injectés directement dans le modèle ; ils sont transformés en séquences de </a:t>
            </a:r>
            <a:r>
              <a:rPr lang="fr-FR" dirty="0" err="1"/>
              <a:t>features</a:t>
            </a:r>
            <a:r>
              <a:rPr lang="fr-FR" dirty="0"/>
              <a:t>, puis séparés chronologiquement pour limiter la fuite temporelle.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D99F9A28-D5B7-6468-DEC2-8119A4027A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268" b="17321"/>
          <a:stretch>
            <a:fillRect/>
          </a:stretch>
        </p:blipFill>
        <p:spPr>
          <a:xfrm>
            <a:off x="80962" y="1114425"/>
            <a:ext cx="8982075" cy="1741754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C98CA6F8-C1ED-6E70-7158-C568CDD1A4B1}"/>
              </a:ext>
            </a:extLst>
          </p:cNvPr>
          <p:cNvSpPr txBox="1"/>
          <p:nvPr/>
        </p:nvSpPr>
        <p:spPr>
          <a:xfrm>
            <a:off x="478086" y="0"/>
            <a:ext cx="818782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000" b="1" dirty="0">
                <a:solidFill>
                  <a:srgbClr val="ED743E"/>
                </a:solidFill>
                <a:latin typeface="Montserrat"/>
              </a:rPr>
              <a:t>De la donnée sismique brute au modèle</a:t>
            </a:r>
          </a:p>
        </p:txBody>
      </p:sp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046C61B3-8CDA-7A26-14DE-79C28BC9D5E3}"/>
              </a:ext>
            </a:extLst>
          </p:cNvPr>
          <p:cNvSpPr txBox="1"/>
          <p:nvPr/>
        </p:nvSpPr>
        <p:spPr>
          <a:xfrm>
            <a:off x="478086" y="0"/>
            <a:ext cx="81878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000" b="1" dirty="0">
                <a:solidFill>
                  <a:srgbClr val="ED743E"/>
                </a:solidFill>
                <a:latin typeface="Montserrat"/>
              </a:rPr>
              <a:t>Modèle d’inférence : CNN-Transformer en classification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0A03BED-3669-99C9-7E13-373F5BB9E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0" y="1202015"/>
            <a:ext cx="8985819" cy="2739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021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9"/>
          <p:cNvSpPr txBox="1"/>
          <p:nvPr/>
        </p:nvSpPr>
        <p:spPr>
          <a:xfrm>
            <a:off x="923700" y="48950"/>
            <a:ext cx="7296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1" dirty="0">
                <a:solidFill>
                  <a:srgbClr val="ED743E"/>
                </a:solidFill>
                <a:latin typeface="Montserrat"/>
                <a:ea typeface="Montserrat"/>
                <a:cs typeface="Montserrat"/>
                <a:sym typeface="Montserrat"/>
              </a:rPr>
              <a:t>Architecture MLOps globale actuelle</a:t>
            </a:r>
            <a:endParaRPr sz="2000" b="1" dirty="0">
              <a:solidFill>
                <a:srgbClr val="ED743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29"/>
          <p:cNvSpPr txBox="1"/>
          <p:nvPr/>
        </p:nvSpPr>
        <p:spPr>
          <a:xfrm>
            <a:off x="8220300" y="4697025"/>
            <a:ext cx="741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78521BCD-8B2A-F01B-2ACB-807C8DEE55E9}"/>
              </a:ext>
            </a:extLst>
          </p:cNvPr>
          <p:cNvGrpSpPr/>
          <p:nvPr/>
        </p:nvGrpSpPr>
        <p:grpSpPr>
          <a:xfrm>
            <a:off x="95250" y="476250"/>
            <a:ext cx="8961900" cy="4580484"/>
            <a:chOff x="0" y="356750"/>
            <a:chExt cx="9144000" cy="4642834"/>
          </a:xfrm>
        </p:grpSpPr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F959C073-F044-F828-6297-EE0129FA67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56750"/>
              <a:ext cx="9144000" cy="4642834"/>
            </a:xfrm>
            <a:prstGeom prst="rect">
              <a:avLst/>
            </a:prstGeom>
          </p:spPr>
        </p:pic>
        <p:pic>
          <p:nvPicPr>
            <p:cNvPr id="185" name="Google Shape;18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152732" y="1975820"/>
              <a:ext cx="278375" cy="2390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" name="Google Shape;186;p2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34553" y="2560235"/>
              <a:ext cx="440300" cy="3459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2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336346" y="3542571"/>
              <a:ext cx="631725" cy="1461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2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613119" y="1202794"/>
              <a:ext cx="682656" cy="307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29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889142" y="444489"/>
              <a:ext cx="440300" cy="397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" name="Google Shape;190;p29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4733206" y="4242535"/>
              <a:ext cx="631725" cy="2080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" name="Google Shape;191;p29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2402532" y="392021"/>
              <a:ext cx="714924" cy="198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" name="Google Shape;192;p29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8000150" y="3542571"/>
              <a:ext cx="440300" cy="2027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" name="Google Shape;193;p29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6981824" y="4658558"/>
              <a:ext cx="420149" cy="2152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74FA6C6F-BF50-879A-721B-4433892FE3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83331" y="969779"/>
              <a:ext cx="302444" cy="302444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0"/>
          <p:cNvSpPr txBox="1"/>
          <p:nvPr/>
        </p:nvSpPr>
        <p:spPr>
          <a:xfrm>
            <a:off x="476350" y="87325"/>
            <a:ext cx="8115300" cy="384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b="1" dirty="0">
                <a:solidFill>
                  <a:srgbClr val="ED743E"/>
                </a:solidFill>
                <a:latin typeface="Montserrat"/>
                <a:ea typeface="Montserrat"/>
                <a:cs typeface="Montserrat"/>
                <a:sym typeface="Montserrat"/>
              </a:rPr>
              <a:t>AIRFLOW : orchestration des pipelines IA</a:t>
            </a:r>
            <a:endParaRPr sz="2500" dirty="0"/>
          </a:p>
        </p:txBody>
      </p:sp>
      <p:sp>
        <p:nvSpPr>
          <p:cNvPr id="201" name="Google Shape;201;p30"/>
          <p:cNvSpPr txBox="1"/>
          <p:nvPr/>
        </p:nvSpPr>
        <p:spPr>
          <a:xfrm>
            <a:off x="8456700" y="4650900"/>
            <a:ext cx="687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CE5E9832-887A-B32F-9491-D4CF6A9A34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75" y="593342"/>
            <a:ext cx="8591650" cy="4512058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1"/>
          <p:cNvSpPr txBox="1"/>
          <p:nvPr/>
        </p:nvSpPr>
        <p:spPr>
          <a:xfrm>
            <a:off x="400050" y="29502"/>
            <a:ext cx="8343900" cy="38472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b="1" dirty="0">
                <a:solidFill>
                  <a:srgbClr val="ED743E"/>
                </a:solidFill>
                <a:latin typeface="Montserrat"/>
                <a:ea typeface="Montserrat"/>
                <a:cs typeface="Montserrat"/>
                <a:sym typeface="Montserrat"/>
              </a:rPr>
              <a:t>Stockage et restitution : tracer, stocker, visualiser</a:t>
            </a:r>
            <a:endParaRPr sz="2500" dirty="0"/>
          </a:p>
        </p:txBody>
      </p:sp>
      <p:sp>
        <p:nvSpPr>
          <p:cNvPr id="210" name="Google Shape;210;p31"/>
          <p:cNvSpPr txBox="1"/>
          <p:nvPr/>
        </p:nvSpPr>
        <p:spPr>
          <a:xfrm>
            <a:off x="8456700" y="4650900"/>
            <a:ext cx="687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dirty="0"/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211F26C2-09FC-7A08-B0E6-930C7127D51A}"/>
              </a:ext>
            </a:extLst>
          </p:cNvPr>
          <p:cNvGrpSpPr/>
          <p:nvPr/>
        </p:nvGrpSpPr>
        <p:grpSpPr>
          <a:xfrm>
            <a:off x="466725" y="609599"/>
            <a:ext cx="2695575" cy="3704663"/>
            <a:chOff x="561974" y="703904"/>
            <a:chExt cx="2695575" cy="3704663"/>
          </a:xfrm>
        </p:grpSpPr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C8AB0407-7153-1DDB-664A-2862D3F0A74D}"/>
                </a:ext>
              </a:extLst>
            </p:cNvPr>
            <p:cNvSpPr/>
            <p:nvPr/>
          </p:nvSpPr>
          <p:spPr>
            <a:xfrm>
              <a:off x="561974" y="703904"/>
              <a:ext cx="2695575" cy="370466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grpSp>
          <p:nvGrpSpPr>
            <p:cNvPr id="18" name="Groupe 17">
              <a:extLst>
                <a:ext uri="{FF2B5EF4-FFF2-40B4-BE49-F238E27FC236}">
                  <a16:creationId xmlns:a16="http://schemas.microsoft.com/office/drawing/2014/main" id="{41EC527B-1AE7-B250-9F80-3EFEE52CACFD}"/>
                </a:ext>
              </a:extLst>
            </p:cNvPr>
            <p:cNvGrpSpPr/>
            <p:nvPr/>
          </p:nvGrpSpPr>
          <p:grpSpPr>
            <a:xfrm>
              <a:off x="776288" y="947455"/>
              <a:ext cx="2209798" cy="3337058"/>
              <a:chOff x="776288" y="947455"/>
              <a:chExt cx="2209798" cy="3337058"/>
            </a:xfrm>
          </p:grpSpPr>
          <p:grpSp>
            <p:nvGrpSpPr>
              <p:cNvPr id="12" name="Groupe 11">
                <a:extLst>
                  <a:ext uri="{FF2B5EF4-FFF2-40B4-BE49-F238E27FC236}">
                    <a16:creationId xmlns:a16="http://schemas.microsoft.com/office/drawing/2014/main" id="{71C6E4A3-FDD2-F647-2176-CC4C2D47E0F4}"/>
                  </a:ext>
                </a:extLst>
              </p:cNvPr>
              <p:cNvGrpSpPr/>
              <p:nvPr/>
            </p:nvGrpSpPr>
            <p:grpSpPr>
              <a:xfrm>
                <a:off x="776288" y="1516569"/>
                <a:ext cx="2209798" cy="1276876"/>
                <a:chOff x="800100" y="1009650"/>
                <a:chExt cx="2209798" cy="1276876"/>
              </a:xfrm>
            </p:grpSpPr>
            <p:sp>
              <p:nvSpPr>
                <p:cNvPr id="11" name="Rectangle : coins arrondis 10">
                  <a:extLst>
                    <a:ext uri="{FF2B5EF4-FFF2-40B4-BE49-F238E27FC236}">
                      <a16:creationId xmlns:a16="http://schemas.microsoft.com/office/drawing/2014/main" id="{3BF78BC7-2515-41D4-CC24-0E14AB49CCA5}"/>
                    </a:ext>
                  </a:extLst>
                </p:cNvPr>
                <p:cNvSpPr/>
                <p:nvPr/>
              </p:nvSpPr>
              <p:spPr>
                <a:xfrm>
                  <a:off x="800100" y="1009650"/>
                  <a:ext cx="2209798" cy="1238250"/>
                </a:xfrm>
                <a:prstGeom prst="roundRect">
                  <a:avLst/>
                </a:prstGeom>
                <a:solidFill>
                  <a:schemeClr val="bg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" name="ZoneTexte 4">
                  <a:extLst>
                    <a:ext uri="{FF2B5EF4-FFF2-40B4-BE49-F238E27FC236}">
                      <a16:creationId xmlns:a16="http://schemas.microsoft.com/office/drawing/2014/main" id="{0259595E-52CF-D6AF-0AD9-1B09209B0E2A}"/>
                    </a:ext>
                  </a:extLst>
                </p:cNvPr>
                <p:cNvSpPr txBox="1"/>
                <p:nvPr/>
              </p:nvSpPr>
              <p:spPr>
                <a:xfrm>
                  <a:off x="838198" y="1116975"/>
                  <a:ext cx="2171699" cy="116955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fr-FR" b="1" dirty="0">
                      <a:solidFill>
                        <a:schemeClr val="bg1"/>
                      </a:solidFill>
                    </a:rPr>
                    <a:t>Neon PostgreSQL</a:t>
                  </a:r>
                </a:p>
                <a:p>
                  <a:pPr algn="ctr"/>
                  <a:br>
                    <a:rPr lang="fr-FR" dirty="0"/>
                  </a:br>
                  <a:r>
                    <a:rPr lang="fr-FR" dirty="0"/>
                    <a:t>- backend store </a:t>
                  </a:r>
                  <a:r>
                    <a:rPr lang="fr-FR" dirty="0" err="1"/>
                    <a:t>MLflow</a:t>
                  </a:r>
                  <a:br>
                    <a:rPr lang="fr-FR" dirty="0"/>
                  </a:br>
                  <a:r>
                    <a:rPr lang="fr-FR" dirty="0"/>
                    <a:t>- métadonnées de </a:t>
                  </a:r>
                  <a:r>
                    <a:rPr lang="fr-FR" dirty="0" err="1"/>
                    <a:t>tracking</a:t>
                  </a:r>
                  <a:endParaRPr lang="fr-FR" dirty="0"/>
                </a:p>
              </p:txBody>
            </p:sp>
          </p:grpSp>
          <p:grpSp>
            <p:nvGrpSpPr>
              <p:cNvPr id="15" name="Groupe 14">
                <a:extLst>
                  <a:ext uri="{FF2B5EF4-FFF2-40B4-BE49-F238E27FC236}">
                    <a16:creationId xmlns:a16="http://schemas.microsoft.com/office/drawing/2014/main" id="{79AEEE40-17B1-18ED-8E14-56BB3DFC5B55}"/>
                  </a:ext>
                </a:extLst>
              </p:cNvPr>
              <p:cNvGrpSpPr/>
              <p:nvPr/>
            </p:nvGrpSpPr>
            <p:grpSpPr>
              <a:xfrm>
                <a:off x="776288" y="2835363"/>
                <a:ext cx="2209798" cy="1449150"/>
                <a:chOff x="685799" y="2182049"/>
                <a:chExt cx="2209798" cy="1449150"/>
              </a:xfrm>
            </p:grpSpPr>
            <p:sp>
              <p:nvSpPr>
                <p:cNvPr id="14" name="Rectangle : coins arrondis 13">
                  <a:extLst>
                    <a:ext uri="{FF2B5EF4-FFF2-40B4-BE49-F238E27FC236}">
                      <a16:creationId xmlns:a16="http://schemas.microsoft.com/office/drawing/2014/main" id="{3860BA94-98C1-2495-86B7-910625AF2992}"/>
                    </a:ext>
                  </a:extLst>
                </p:cNvPr>
                <p:cNvSpPr/>
                <p:nvPr/>
              </p:nvSpPr>
              <p:spPr>
                <a:xfrm>
                  <a:off x="685799" y="2182049"/>
                  <a:ext cx="2209798" cy="1418825"/>
                </a:xfrm>
                <a:prstGeom prst="roundRect">
                  <a:avLst/>
                </a:prstGeom>
                <a:solidFill>
                  <a:schemeClr val="bg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" name="ZoneTexte 6">
                  <a:extLst>
                    <a:ext uri="{FF2B5EF4-FFF2-40B4-BE49-F238E27FC236}">
                      <a16:creationId xmlns:a16="http://schemas.microsoft.com/office/drawing/2014/main" id="{5A96D37F-30AD-A808-C180-35B541918AC6}"/>
                    </a:ext>
                  </a:extLst>
                </p:cNvPr>
                <p:cNvSpPr txBox="1"/>
                <p:nvPr/>
              </p:nvSpPr>
              <p:spPr>
                <a:xfrm>
                  <a:off x="723897" y="2246204"/>
                  <a:ext cx="2133600" cy="13849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fr-FR" b="1" dirty="0">
                      <a:solidFill>
                        <a:schemeClr val="bg1"/>
                      </a:solidFill>
                    </a:rPr>
                    <a:t>AWS S3</a:t>
                  </a:r>
                </a:p>
                <a:p>
                  <a:pPr algn="ctr"/>
                  <a:br>
                    <a:rPr lang="fr-FR" dirty="0"/>
                  </a:br>
                  <a:r>
                    <a:rPr lang="fr-FR" dirty="0"/>
                    <a:t>- artefacts </a:t>
                  </a:r>
                  <a:r>
                    <a:rPr lang="fr-FR" dirty="0" err="1"/>
                    <a:t>MLflow</a:t>
                  </a:r>
                  <a:br>
                    <a:rPr lang="fr-FR" dirty="0"/>
                  </a:br>
                  <a:r>
                    <a:rPr lang="fr-FR" dirty="0"/>
                    <a:t>- rapports </a:t>
                  </a:r>
                  <a:r>
                    <a:rPr lang="fr-FR" dirty="0" err="1"/>
                    <a:t>Evidently</a:t>
                  </a:r>
                  <a:br>
                    <a:rPr lang="fr-FR" dirty="0"/>
                  </a:br>
                  <a:r>
                    <a:rPr lang="fr-FR" dirty="0"/>
                    <a:t>- prédictions récentes</a:t>
                  </a:r>
                  <a:br>
                    <a:rPr lang="fr-FR" dirty="0"/>
                  </a:br>
                  <a:r>
                    <a:rPr lang="fr-FR" dirty="0"/>
                    <a:t>- artefacts opérationnels</a:t>
                  </a:r>
                </a:p>
              </p:txBody>
            </p:sp>
          </p:grpSp>
          <p:sp>
            <p:nvSpPr>
              <p:cNvPr id="17" name="Rectangle : coins arrondis 16">
                <a:extLst>
                  <a:ext uri="{FF2B5EF4-FFF2-40B4-BE49-F238E27FC236}">
                    <a16:creationId xmlns:a16="http://schemas.microsoft.com/office/drawing/2014/main" id="{71C45BB3-4115-F40D-8945-BFA737CA338B}"/>
                  </a:ext>
                </a:extLst>
              </p:cNvPr>
              <p:cNvSpPr/>
              <p:nvPr/>
            </p:nvSpPr>
            <p:spPr>
              <a:xfrm>
                <a:off x="776288" y="947455"/>
                <a:ext cx="2209798" cy="329218"/>
              </a:xfrm>
              <a:prstGeom prst="round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2000" dirty="0"/>
                  <a:t>Stocker</a:t>
                </a:r>
                <a:endParaRPr lang="fr-FR" dirty="0"/>
              </a:p>
            </p:txBody>
          </p:sp>
        </p:grpSp>
      </p:grp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3B3C1972-D4CC-ADE9-3B14-11C640D46219}"/>
              </a:ext>
            </a:extLst>
          </p:cNvPr>
          <p:cNvGrpSpPr/>
          <p:nvPr/>
        </p:nvGrpSpPr>
        <p:grpSpPr>
          <a:xfrm>
            <a:off x="3729036" y="1181100"/>
            <a:ext cx="2219325" cy="2038350"/>
            <a:chOff x="3600450" y="1181100"/>
            <a:chExt cx="2219325" cy="2038350"/>
          </a:xfrm>
        </p:grpSpPr>
        <p:sp>
          <p:nvSpPr>
            <p:cNvPr id="20" name="Rectangle : coins arrondis 19">
              <a:extLst>
                <a:ext uri="{FF2B5EF4-FFF2-40B4-BE49-F238E27FC236}">
                  <a16:creationId xmlns:a16="http://schemas.microsoft.com/office/drawing/2014/main" id="{21327D39-70A1-AECB-1A48-9883EF33A23A}"/>
                </a:ext>
              </a:extLst>
            </p:cNvPr>
            <p:cNvSpPr/>
            <p:nvPr/>
          </p:nvSpPr>
          <p:spPr>
            <a:xfrm>
              <a:off x="3600450" y="1181100"/>
              <a:ext cx="2219325" cy="2038350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" name="ZoneTexte 2">
              <a:extLst>
                <a:ext uri="{FF2B5EF4-FFF2-40B4-BE49-F238E27FC236}">
                  <a16:creationId xmlns:a16="http://schemas.microsoft.com/office/drawing/2014/main" id="{58F961E2-D385-5B0C-A877-4D314CEA43F1}"/>
                </a:ext>
              </a:extLst>
            </p:cNvPr>
            <p:cNvSpPr txBox="1"/>
            <p:nvPr/>
          </p:nvSpPr>
          <p:spPr>
            <a:xfrm>
              <a:off x="3643312" y="1903070"/>
              <a:ext cx="2133600" cy="11695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b="1" dirty="0" err="1">
                  <a:solidFill>
                    <a:schemeClr val="bg1"/>
                  </a:solidFill>
                </a:rPr>
                <a:t>MLflow</a:t>
              </a:r>
              <a:endParaRPr lang="fr-FR" b="1" dirty="0">
                <a:solidFill>
                  <a:schemeClr val="bg1"/>
                </a:solidFill>
              </a:endParaRPr>
            </a:p>
            <a:p>
              <a:pPr algn="ctr"/>
              <a:br>
                <a:rPr lang="fr-FR" dirty="0"/>
              </a:br>
              <a:r>
                <a:rPr lang="fr-FR" dirty="0"/>
                <a:t>- runs d’entraînement</a:t>
              </a:r>
              <a:br>
                <a:rPr lang="fr-FR" dirty="0"/>
              </a:br>
              <a:r>
                <a:rPr lang="fr-FR" dirty="0"/>
                <a:t>- métriques / paramètres</a:t>
              </a:r>
              <a:br>
                <a:rPr lang="fr-FR" dirty="0"/>
              </a:br>
              <a:r>
                <a:rPr lang="fr-FR" dirty="0"/>
                <a:t>- décisions modèle</a:t>
              </a:r>
            </a:p>
          </p:txBody>
        </p:sp>
        <p:sp>
          <p:nvSpPr>
            <p:cNvPr id="21" name="Rectangle : coins arrondis 20">
              <a:extLst>
                <a:ext uri="{FF2B5EF4-FFF2-40B4-BE49-F238E27FC236}">
                  <a16:creationId xmlns:a16="http://schemas.microsoft.com/office/drawing/2014/main" id="{45EB3CFD-204D-537A-7C8F-4AE42B8448B5}"/>
                </a:ext>
              </a:extLst>
            </p:cNvPr>
            <p:cNvSpPr/>
            <p:nvPr/>
          </p:nvSpPr>
          <p:spPr>
            <a:xfrm>
              <a:off x="3867150" y="1276673"/>
              <a:ext cx="1714500" cy="347221"/>
            </a:xfrm>
            <a:prstGeom prst="roundRect">
              <a:avLst/>
            </a:prstGeom>
            <a:solidFill>
              <a:srgbClr val="B5CD85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000" dirty="0"/>
                <a:t>Tracer</a:t>
              </a:r>
              <a:endParaRPr lang="fr-FR" dirty="0"/>
            </a:p>
          </p:txBody>
        </p: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CE682253-DF49-8BCD-D17C-271DC5E7C501}"/>
              </a:ext>
            </a:extLst>
          </p:cNvPr>
          <p:cNvGrpSpPr/>
          <p:nvPr/>
        </p:nvGrpSpPr>
        <p:grpSpPr>
          <a:xfrm>
            <a:off x="6515098" y="1181100"/>
            <a:ext cx="2071692" cy="2038350"/>
            <a:chOff x="6372223" y="1034271"/>
            <a:chExt cx="2071692" cy="2038350"/>
          </a:xfrm>
        </p:grpSpPr>
        <p:sp>
          <p:nvSpPr>
            <p:cNvPr id="22" name="Rectangle : coins arrondis 21">
              <a:extLst>
                <a:ext uri="{FF2B5EF4-FFF2-40B4-BE49-F238E27FC236}">
                  <a16:creationId xmlns:a16="http://schemas.microsoft.com/office/drawing/2014/main" id="{2037A3A8-DE82-A8AE-1EE1-20D78EF13E4C}"/>
                </a:ext>
              </a:extLst>
            </p:cNvPr>
            <p:cNvSpPr/>
            <p:nvPr/>
          </p:nvSpPr>
          <p:spPr>
            <a:xfrm>
              <a:off x="6372223" y="1034271"/>
              <a:ext cx="2071691" cy="2038350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9B1031DA-F73D-E726-A593-EF3A017C99E0}"/>
                </a:ext>
              </a:extLst>
            </p:cNvPr>
            <p:cNvSpPr txBox="1"/>
            <p:nvPr/>
          </p:nvSpPr>
          <p:spPr>
            <a:xfrm>
              <a:off x="6372223" y="1824778"/>
              <a:ext cx="2071692" cy="11695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b="1" dirty="0">
                  <a:solidFill>
                    <a:schemeClr val="bg1"/>
                  </a:solidFill>
                </a:rPr>
                <a:t>Dashboard </a:t>
              </a:r>
              <a:r>
                <a:rPr lang="fr-FR" b="1" dirty="0" err="1">
                  <a:solidFill>
                    <a:schemeClr val="bg1"/>
                  </a:solidFill>
                </a:rPr>
                <a:t>Streamlit</a:t>
              </a:r>
              <a:endParaRPr lang="fr-FR" b="1" dirty="0">
                <a:solidFill>
                  <a:schemeClr val="bg1"/>
                </a:solidFill>
              </a:endParaRPr>
            </a:p>
            <a:p>
              <a:pPr algn="ctr"/>
              <a:br>
                <a:rPr lang="fr-FR" dirty="0"/>
              </a:br>
              <a:r>
                <a:rPr lang="fr-FR" dirty="0"/>
                <a:t>- lecture des sorties S3</a:t>
              </a:r>
              <a:br>
                <a:rPr lang="fr-FR" dirty="0"/>
              </a:br>
              <a:r>
                <a:rPr lang="fr-FR" dirty="0"/>
                <a:t>- proba alerte à 24h</a:t>
              </a:r>
              <a:br>
                <a:rPr lang="fr-FR" dirty="0"/>
              </a:br>
              <a:r>
                <a:rPr lang="fr-FR" dirty="0"/>
                <a:t>- historique des alertes</a:t>
              </a:r>
            </a:p>
          </p:txBody>
        </p:sp>
        <p:sp>
          <p:nvSpPr>
            <p:cNvPr id="23" name="Rectangle : coins arrondis 22">
              <a:extLst>
                <a:ext uri="{FF2B5EF4-FFF2-40B4-BE49-F238E27FC236}">
                  <a16:creationId xmlns:a16="http://schemas.microsoft.com/office/drawing/2014/main" id="{8306C32A-6712-D97C-43D2-6B460A714FED}"/>
                </a:ext>
              </a:extLst>
            </p:cNvPr>
            <p:cNvSpPr/>
            <p:nvPr/>
          </p:nvSpPr>
          <p:spPr>
            <a:xfrm>
              <a:off x="6693693" y="1260106"/>
              <a:ext cx="1428750" cy="302317"/>
            </a:xfrm>
            <a:prstGeom prst="roundRect">
              <a:avLst/>
            </a:prstGeom>
            <a:solidFill>
              <a:srgbClr val="FABF8E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000" dirty="0"/>
                <a:t>Visualiser</a:t>
              </a:r>
              <a:endParaRPr lang="fr-FR" dirty="0"/>
            </a:p>
          </p:txBody>
        </p:sp>
      </p:grpSp>
      <p:sp>
        <p:nvSpPr>
          <p:cNvPr id="27" name="ZoneTexte 26">
            <a:extLst>
              <a:ext uri="{FF2B5EF4-FFF2-40B4-BE49-F238E27FC236}">
                <a16:creationId xmlns:a16="http://schemas.microsoft.com/office/drawing/2014/main" id="{BAFB7F09-5DA0-5C86-DAF6-234DEEB7BB6A}"/>
              </a:ext>
            </a:extLst>
          </p:cNvPr>
          <p:cNvSpPr txBox="1"/>
          <p:nvPr/>
        </p:nvSpPr>
        <p:spPr>
          <a:xfrm>
            <a:off x="190500" y="4559630"/>
            <a:ext cx="89535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 err="1"/>
              <a:t>MLflow</a:t>
            </a:r>
            <a:r>
              <a:rPr lang="fr-FR" dirty="0"/>
              <a:t> trace le cycle modèle, S3 stocke les sorties opérationnelles, et </a:t>
            </a:r>
            <a:r>
              <a:rPr lang="fr-FR" dirty="0" err="1"/>
              <a:t>Streamlit</a:t>
            </a:r>
            <a:r>
              <a:rPr lang="fr-FR" dirty="0"/>
              <a:t> restitue les prédictions sous forme d’indicateurs exploitables.</a:t>
            </a: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 txBox="1"/>
          <p:nvPr/>
        </p:nvSpPr>
        <p:spPr>
          <a:xfrm>
            <a:off x="476350" y="174325"/>
            <a:ext cx="8115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 b="1">
                <a:solidFill>
                  <a:srgbClr val="ED743E"/>
                </a:solidFill>
                <a:latin typeface="Montserrat"/>
                <a:ea typeface="Montserrat"/>
                <a:cs typeface="Montserrat"/>
                <a:sym typeface="Montserrat"/>
              </a:rPr>
              <a:t>DASHBOARD &amp; VISUALISATION</a:t>
            </a:r>
            <a:endParaRPr sz="3000"/>
          </a:p>
        </p:txBody>
      </p:sp>
      <p:sp>
        <p:nvSpPr>
          <p:cNvPr id="220" name="Google Shape;220;p32"/>
          <p:cNvSpPr txBox="1"/>
          <p:nvPr/>
        </p:nvSpPr>
        <p:spPr>
          <a:xfrm>
            <a:off x="8447125" y="4589575"/>
            <a:ext cx="687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FBE0F5B-BF1D-0C35-64F1-4DF7A4CA2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50774"/>
            <a:ext cx="9144000" cy="4194451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>
          <a:extLst>
            <a:ext uri="{FF2B5EF4-FFF2-40B4-BE49-F238E27FC236}">
              <a16:creationId xmlns:a16="http://schemas.microsoft.com/office/drawing/2014/main" id="{3E8E0F8A-99BF-40EB-2709-85A14F487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3">
            <a:extLst>
              <a:ext uri="{FF2B5EF4-FFF2-40B4-BE49-F238E27FC236}">
                <a16:creationId xmlns:a16="http://schemas.microsoft.com/office/drawing/2014/main" id="{44EE225F-8508-8D18-213B-231A6555BE74}"/>
              </a:ext>
            </a:extLst>
          </p:cNvPr>
          <p:cNvSpPr txBox="1"/>
          <p:nvPr/>
        </p:nvSpPr>
        <p:spPr>
          <a:xfrm>
            <a:off x="514350" y="124675"/>
            <a:ext cx="8115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 b="1" dirty="0">
                <a:solidFill>
                  <a:srgbClr val="ED743E"/>
                </a:solidFill>
                <a:latin typeface="Montserrat"/>
                <a:ea typeface="Montserrat"/>
                <a:cs typeface="Montserrat"/>
                <a:sym typeface="Montserrat"/>
              </a:rPr>
              <a:t>ET APRÈS ?</a:t>
            </a:r>
            <a:endParaRPr sz="3000" dirty="0"/>
          </a:p>
        </p:txBody>
      </p:sp>
      <p:sp>
        <p:nvSpPr>
          <p:cNvPr id="230" name="Google Shape;230;p33">
            <a:extLst>
              <a:ext uri="{FF2B5EF4-FFF2-40B4-BE49-F238E27FC236}">
                <a16:creationId xmlns:a16="http://schemas.microsoft.com/office/drawing/2014/main" id="{78EF574B-49E7-A852-EC8D-312FFB2FA59F}"/>
              </a:ext>
            </a:extLst>
          </p:cNvPr>
          <p:cNvSpPr txBox="1"/>
          <p:nvPr/>
        </p:nvSpPr>
        <p:spPr>
          <a:xfrm>
            <a:off x="8391600" y="4644400"/>
            <a:ext cx="752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9D28F06-5C35-77D0-BA41-C8DFEEFD7075}"/>
              </a:ext>
            </a:extLst>
          </p:cNvPr>
          <p:cNvSpPr txBox="1"/>
          <p:nvPr/>
        </p:nvSpPr>
        <p:spPr>
          <a:xfrm>
            <a:off x="2503715" y="66616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Évolutions : vers une architecture IA scalable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64261152-0F11-2182-F0C0-84F86437C141}"/>
              </a:ext>
            </a:extLst>
          </p:cNvPr>
          <p:cNvGrpSpPr/>
          <p:nvPr/>
        </p:nvGrpSpPr>
        <p:grpSpPr>
          <a:xfrm>
            <a:off x="4708298" y="1131960"/>
            <a:ext cx="2076450" cy="3345371"/>
            <a:chOff x="514350" y="1299029"/>
            <a:chExt cx="2076450" cy="3345371"/>
          </a:xfrm>
        </p:grpSpPr>
        <p:sp>
          <p:nvSpPr>
            <p:cNvPr id="4" name="Rectangle : coins arrondis 3">
              <a:extLst>
                <a:ext uri="{FF2B5EF4-FFF2-40B4-BE49-F238E27FC236}">
                  <a16:creationId xmlns:a16="http://schemas.microsoft.com/office/drawing/2014/main" id="{753C4129-0AB2-256F-21BE-D003C783011A}"/>
                </a:ext>
              </a:extLst>
            </p:cNvPr>
            <p:cNvSpPr/>
            <p:nvPr/>
          </p:nvSpPr>
          <p:spPr>
            <a:xfrm>
              <a:off x="514350" y="1299029"/>
              <a:ext cx="2076450" cy="3345371"/>
            </a:xfrm>
            <a:prstGeom prst="roundRect">
              <a:avLst/>
            </a:prstGeom>
            <a:solidFill>
              <a:srgbClr val="ED743E"/>
            </a:solidFill>
            <a:ln>
              <a:solidFill>
                <a:srgbClr val="9A390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fr-FR" sz="13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fr-FR" sz="13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sz="1300" dirty="0"/>
                <a:t>Centraliser l’historique, les </a:t>
              </a:r>
              <a:r>
                <a:rPr lang="fr-FR" sz="1300" dirty="0" err="1"/>
                <a:t>features</a:t>
              </a:r>
              <a:r>
                <a:rPr lang="fr-FR" sz="1300" dirty="0"/>
                <a:t> et les prédictions</a:t>
              </a:r>
            </a:p>
            <a:p>
              <a:endParaRPr lang="fr-FR" sz="13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sz="1300" dirty="0"/>
                <a:t>Faciliter analyse et monitoring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fr-FR" sz="13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sz="1300" dirty="0"/>
                <a:t>Préparer l’exploitation long terme</a:t>
              </a:r>
            </a:p>
          </p:txBody>
        </p:sp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DC53F2F8-7D1A-D8ED-DADC-1CECCF1212F7}"/>
                </a:ext>
              </a:extLst>
            </p:cNvPr>
            <p:cNvSpPr/>
            <p:nvPr/>
          </p:nvSpPr>
          <p:spPr>
            <a:xfrm>
              <a:off x="756331" y="1422400"/>
              <a:ext cx="1654629" cy="471714"/>
            </a:xfrm>
            <a:prstGeom prst="roundRect">
              <a:avLst/>
            </a:prstGeom>
            <a:solidFill>
              <a:srgbClr val="F5B395"/>
            </a:solidFill>
            <a:ln>
              <a:solidFill>
                <a:srgbClr val="9A390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Data Warehouse / ELT</a:t>
              </a:r>
            </a:p>
          </p:txBody>
        </p:sp>
      </p:grpSp>
      <p:grpSp>
        <p:nvGrpSpPr>
          <p:cNvPr id="7" name="Groupe 6">
            <a:extLst>
              <a:ext uri="{FF2B5EF4-FFF2-40B4-BE49-F238E27FC236}">
                <a16:creationId xmlns:a16="http://schemas.microsoft.com/office/drawing/2014/main" id="{B44EB01C-ECD2-550F-986C-05764ED284F3}"/>
              </a:ext>
            </a:extLst>
          </p:cNvPr>
          <p:cNvGrpSpPr/>
          <p:nvPr/>
        </p:nvGrpSpPr>
        <p:grpSpPr>
          <a:xfrm>
            <a:off x="40368" y="1139372"/>
            <a:ext cx="2076450" cy="3345371"/>
            <a:chOff x="514350" y="1299029"/>
            <a:chExt cx="2076450" cy="3345371"/>
          </a:xfrm>
        </p:grpSpPr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B6608028-D00F-EACC-D6AF-FEA9EB1A40A8}"/>
                </a:ext>
              </a:extLst>
            </p:cNvPr>
            <p:cNvSpPr/>
            <p:nvPr/>
          </p:nvSpPr>
          <p:spPr>
            <a:xfrm>
              <a:off x="514350" y="1299029"/>
              <a:ext cx="2076450" cy="3345371"/>
            </a:xfrm>
            <a:prstGeom prst="roundRect">
              <a:avLst/>
            </a:prstGeom>
            <a:solidFill>
              <a:srgbClr val="ED743E"/>
            </a:solidFill>
            <a:ln>
              <a:solidFill>
                <a:srgbClr val="9A390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fr-FR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dirty="0"/>
                <a:t>Intégrer l’appel d’API dans </a:t>
              </a:r>
              <a:r>
                <a:rPr lang="fr-FR" dirty="0" err="1"/>
                <a:t>Airflow</a:t>
              </a:r>
              <a:endParaRPr lang="fr-FR" dirty="0"/>
            </a:p>
            <a:p>
              <a:endParaRPr lang="fr-FR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dirty="0"/>
                <a:t>Planifier la collecte </a:t>
              </a:r>
              <a:r>
                <a:rPr lang="fr-FR" dirty="0" err="1"/>
                <a:t>MiniSEED</a:t>
              </a:r>
              <a:endParaRPr lang="fr-FR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fr-FR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dirty="0"/>
                <a:t>Supprimer le lancement manuel</a:t>
              </a:r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1613D5E9-BDA2-195C-5A8E-E71799E1FAE8}"/>
                </a:ext>
              </a:extLst>
            </p:cNvPr>
            <p:cNvSpPr/>
            <p:nvPr/>
          </p:nvSpPr>
          <p:spPr>
            <a:xfrm>
              <a:off x="725260" y="1422400"/>
              <a:ext cx="1654629" cy="471714"/>
            </a:xfrm>
            <a:prstGeom prst="roundRect">
              <a:avLst/>
            </a:prstGeom>
            <a:solidFill>
              <a:srgbClr val="F5B395"/>
            </a:solidFill>
            <a:ln>
              <a:solidFill>
                <a:srgbClr val="9A390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Extraction automatisée</a:t>
              </a:r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57BB5FDD-0F6F-51F2-6975-9A3155DAFEBB}"/>
              </a:ext>
            </a:extLst>
          </p:cNvPr>
          <p:cNvGrpSpPr/>
          <p:nvPr/>
        </p:nvGrpSpPr>
        <p:grpSpPr>
          <a:xfrm>
            <a:off x="2374333" y="1131960"/>
            <a:ext cx="2076450" cy="3345371"/>
            <a:chOff x="514350" y="1299029"/>
            <a:chExt cx="2076450" cy="3345371"/>
          </a:xfrm>
        </p:grpSpPr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11DBE8CC-532E-1624-5892-4030CC464D29}"/>
                </a:ext>
              </a:extLst>
            </p:cNvPr>
            <p:cNvSpPr/>
            <p:nvPr/>
          </p:nvSpPr>
          <p:spPr>
            <a:xfrm>
              <a:off x="514350" y="1299029"/>
              <a:ext cx="2076450" cy="3345371"/>
            </a:xfrm>
            <a:prstGeom prst="roundRect">
              <a:avLst/>
            </a:prstGeom>
            <a:solidFill>
              <a:srgbClr val="ED743E"/>
            </a:solidFill>
            <a:ln>
              <a:solidFill>
                <a:srgbClr val="9A390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fr-FR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dirty="0"/>
                <a:t>Gérer champion/challenger</a:t>
              </a:r>
            </a:p>
            <a:p>
              <a:endParaRPr lang="fr-FR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dirty="0"/>
                <a:t>Formaliser promotion/rejet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fr-FR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dirty="0"/>
                <a:t>Centraliser la gouvernance du modèle</a:t>
              </a:r>
            </a:p>
          </p:txBody>
        </p:sp>
        <p:sp>
          <p:nvSpPr>
            <p:cNvPr id="12" name="Rectangle : coins arrondis 11">
              <a:extLst>
                <a:ext uri="{FF2B5EF4-FFF2-40B4-BE49-F238E27FC236}">
                  <a16:creationId xmlns:a16="http://schemas.microsoft.com/office/drawing/2014/main" id="{1F6EB7A1-C64F-FE9E-6696-0494C32E6E7A}"/>
                </a:ext>
              </a:extLst>
            </p:cNvPr>
            <p:cNvSpPr/>
            <p:nvPr/>
          </p:nvSpPr>
          <p:spPr>
            <a:xfrm>
              <a:off x="725260" y="1422400"/>
              <a:ext cx="1654629" cy="471714"/>
            </a:xfrm>
            <a:prstGeom prst="roundRect">
              <a:avLst/>
            </a:prstGeom>
            <a:solidFill>
              <a:srgbClr val="F5B395"/>
            </a:solidFill>
            <a:ln>
              <a:solidFill>
                <a:srgbClr val="9A390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Model </a:t>
              </a:r>
              <a:r>
                <a:rPr lang="fr-FR" dirty="0" err="1"/>
                <a:t>Registry</a:t>
              </a:r>
              <a:r>
                <a:rPr lang="fr-FR" dirty="0"/>
                <a:t> </a:t>
              </a:r>
              <a:r>
                <a:rPr lang="fr-FR" dirty="0" err="1"/>
                <a:t>MLflow</a:t>
              </a:r>
              <a:endParaRPr lang="fr-FR" dirty="0"/>
            </a:p>
          </p:txBody>
        </p:sp>
      </p:grp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FFB768F2-1174-EF0C-035F-16DB902E6D95}"/>
              </a:ext>
            </a:extLst>
          </p:cNvPr>
          <p:cNvGrpSpPr/>
          <p:nvPr/>
        </p:nvGrpSpPr>
        <p:grpSpPr>
          <a:xfrm>
            <a:off x="7026729" y="1139372"/>
            <a:ext cx="2076450" cy="3345371"/>
            <a:chOff x="514350" y="1299029"/>
            <a:chExt cx="2076450" cy="3345371"/>
          </a:xfrm>
        </p:grpSpPr>
        <p:sp>
          <p:nvSpPr>
            <p:cNvPr id="14" name="Rectangle : coins arrondis 13">
              <a:extLst>
                <a:ext uri="{FF2B5EF4-FFF2-40B4-BE49-F238E27FC236}">
                  <a16:creationId xmlns:a16="http://schemas.microsoft.com/office/drawing/2014/main" id="{DB7B9D75-86DA-4681-260E-0519525F8F48}"/>
                </a:ext>
              </a:extLst>
            </p:cNvPr>
            <p:cNvSpPr/>
            <p:nvPr/>
          </p:nvSpPr>
          <p:spPr>
            <a:xfrm>
              <a:off x="514350" y="1299029"/>
              <a:ext cx="2076450" cy="3345371"/>
            </a:xfrm>
            <a:prstGeom prst="roundRect">
              <a:avLst/>
            </a:prstGeom>
            <a:solidFill>
              <a:srgbClr val="ED743E"/>
            </a:solidFill>
            <a:ln>
              <a:solidFill>
                <a:srgbClr val="9A390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dirty="0"/>
                <a:t>Déployer le modèle promu</a:t>
              </a:r>
            </a:p>
            <a:p>
              <a:endParaRPr lang="fr-FR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dirty="0"/>
                <a:t>Sécuriser la mise en production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fr-FR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dirty="0"/>
                <a:t>Automatiser le rollback</a:t>
              </a:r>
            </a:p>
          </p:txBody>
        </p:sp>
        <p:sp>
          <p:nvSpPr>
            <p:cNvPr id="15" name="Rectangle : coins arrondis 14">
              <a:extLst>
                <a:ext uri="{FF2B5EF4-FFF2-40B4-BE49-F238E27FC236}">
                  <a16:creationId xmlns:a16="http://schemas.microsoft.com/office/drawing/2014/main" id="{B81AA949-13FD-6D3E-934F-95B126DAE66E}"/>
                </a:ext>
              </a:extLst>
            </p:cNvPr>
            <p:cNvSpPr/>
            <p:nvPr/>
          </p:nvSpPr>
          <p:spPr>
            <a:xfrm>
              <a:off x="725260" y="1422400"/>
              <a:ext cx="1654629" cy="471714"/>
            </a:xfrm>
            <a:prstGeom prst="roundRect">
              <a:avLst/>
            </a:prstGeom>
            <a:solidFill>
              <a:srgbClr val="F5B395"/>
            </a:solidFill>
            <a:ln>
              <a:solidFill>
                <a:srgbClr val="9A390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300" dirty="0" err="1"/>
                <a:t>Continuous</a:t>
              </a:r>
              <a:r>
                <a:rPr lang="fr-FR" sz="1300" dirty="0"/>
                <a:t> </a:t>
              </a:r>
              <a:r>
                <a:rPr lang="fr-FR" sz="1300" dirty="0" err="1"/>
                <a:t>Deployment</a:t>
              </a:r>
              <a:endParaRPr lang="fr-FR" sz="1300" dirty="0"/>
            </a:p>
          </p:txBody>
        </p:sp>
      </p:grp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315C9EC6-D107-0CD0-33E0-E9888D95EB68}"/>
              </a:ext>
            </a:extLst>
          </p:cNvPr>
          <p:cNvSpPr/>
          <p:nvPr/>
        </p:nvSpPr>
        <p:spPr>
          <a:xfrm>
            <a:off x="40368" y="4644400"/>
            <a:ext cx="9062811" cy="461700"/>
          </a:xfrm>
          <a:prstGeom prst="roundRect">
            <a:avLst/>
          </a:prstGeom>
          <a:solidFill>
            <a:srgbClr val="D1D1D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ED743E"/>
                </a:solidFill>
              </a:rPr>
              <a:t>automatiser la collecte, formaliser la gouvernance modèle, sécuriser le déploiement, puis préparer le passage à l’échelle avec calcul distribué et Deep Learning distribué.</a:t>
            </a:r>
          </a:p>
        </p:txBody>
      </p:sp>
    </p:spTree>
    <p:extLst>
      <p:ext uri="{BB962C8B-B14F-4D97-AF65-F5344CB8AC3E}">
        <p14:creationId xmlns:p14="http://schemas.microsoft.com/office/powerpoint/2010/main" val="770699554"/>
      </p:ext>
    </p:extLst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4"/>
          <p:cNvSpPr/>
          <p:nvPr/>
        </p:nvSpPr>
        <p:spPr>
          <a:xfrm>
            <a:off x="969225" y="1395588"/>
            <a:ext cx="2623966" cy="2467636"/>
          </a:xfrm>
          <a:custGeom>
            <a:avLst/>
            <a:gdLst/>
            <a:ahLst/>
            <a:cxnLst/>
            <a:rect l="l" t="t" r="r" b="b"/>
            <a:pathLst>
              <a:path w="8264460" h="7896435" extrusionOk="0">
                <a:moveTo>
                  <a:pt x="0" y="0"/>
                </a:moveTo>
                <a:lnTo>
                  <a:pt x="8264460" y="0"/>
                </a:lnTo>
                <a:lnTo>
                  <a:pt x="8264460" y="7896434"/>
                </a:lnTo>
                <a:lnTo>
                  <a:pt x="0" y="78964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30354" t="-20481" r="-30354" b="-47713"/>
            </a:stretch>
          </a:blipFill>
          <a:ln>
            <a:noFill/>
          </a:ln>
        </p:spPr>
      </p:sp>
      <p:sp>
        <p:nvSpPr>
          <p:cNvPr id="238" name="Google Shape;238;p34"/>
          <p:cNvSpPr txBox="1"/>
          <p:nvPr/>
        </p:nvSpPr>
        <p:spPr>
          <a:xfrm>
            <a:off x="2587651" y="259844"/>
            <a:ext cx="39687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 b="1" i="0" u="none" strike="noStrike" cap="none" dirty="0">
                <a:solidFill>
                  <a:srgbClr val="ED743E"/>
                </a:solidFill>
                <a:latin typeface="Montserrat"/>
                <a:ea typeface="Montserrat"/>
                <a:cs typeface="Montserrat"/>
                <a:sym typeface="Montserrat"/>
              </a:rPr>
              <a:t>MERCI ! </a:t>
            </a:r>
            <a:endParaRPr sz="3000" dirty="0"/>
          </a:p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 b="1" i="0" u="none" strike="noStrike" cap="none" dirty="0">
                <a:solidFill>
                  <a:srgbClr val="ED743E"/>
                </a:solidFill>
                <a:latin typeface="Montserrat"/>
                <a:ea typeface="Montserrat"/>
                <a:cs typeface="Montserrat"/>
                <a:sym typeface="Montserrat"/>
              </a:rPr>
              <a:t>QUESTIONS ?</a:t>
            </a:r>
            <a:endParaRPr sz="3000" dirty="0"/>
          </a:p>
        </p:txBody>
      </p:sp>
      <p:sp>
        <p:nvSpPr>
          <p:cNvPr id="239" name="Google Shape;239;p34"/>
          <p:cNvSpPr txBox="1"/>
          <p:nvPr/>
        </p:nvSpPr>
        <p:spPr>
          <a:xfrm>
            <a:off x="3955142" y="2885578"/>
            <a:ext cx="4306086" cy="380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sz="16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https://vartkirl-vulcadata-dashboard.hf.space/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0" name="Google Shape;240;p34" title="hf-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0656" y="2240112"/>
            <a:ext cx="778576" cy="778576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4"/>
          <p:cNvSpPr txBox="1"/>
          <p:nvPr/>
        </p:nvSpPr>
        <p:spPr>
          <a:xfrm>
            <a:off x="8434725" y="4556300"/>
            <a:ext cx="633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5"/>
          <p:cNvSpPr txBox="1"/>
          <p:nvPr/>
        </p:nvSpPr>
        <p:spPr>
          <a:xfrm>
            <a:off x="2587651" y="1972812"/>
            <a:ext cx="3968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 b="1">
                <a:solidFill>
                  <a:srgbClr val="ED743E"/>
                </a:solidFill>
                <a:latin typeface="Montserrat"/>
                <a:ea typeface="Montserrat"/>
                <a:cs typeface="Montserrat"/>
                <a:sym typeface="Montserrat"/>
              </a:rPr>
              <a:t>Annexes</a:t>
            </a:r>
            <a:endParaRPr sz="3000"/>
          </a:p>
        </p:txBody>
      </p:sp>
      <p:sp>
        <p:nvSpPr>
          <p:cNvPr id="249" name="Google Shape;249;p35"/>
          <p:cNvSpPr txBox="1"/>
          <p:nvPr/>
        </p:nvSpPr>
        <p:spPr>
          <a:xfrm>
            <a:off x="8434725" y="4556300"/>
            <a:ext cx="633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>
          <a:extLst>
            <a:ext uri="{FF2B5EF4-FFF2-40B4-BE49-F238E27FC236}">
              <a16:creationId xmlns:a16="http://schemas.microsoft.com/office/drawing/2014/main" id="{9200D435-49BB-4A33-0829-78CA449E9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Image 60">
            <a:extLst>
              <a:ext uri="{FF2B5EF4-FFF2-40B4-BE49-F238E27FC236}">
                <a16:creationId xmlns:a16="http://schemas.microsoft.com/office/drawing/2014/main" id="{DF0FA484-4706-7EE5-CE6B-44E569E19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17" y="556227"/>
            <a:ext cx="8961900" cy="4387098"/>
          </a:xfrm>
          <a:prstGeom prst="rect">
            <a:avLst/>
          </a:prstGeom>
        </p:spPr>
      </p:pic>
      <p:sp>
        <p:nvSpPr>
          <p:cNvPr id="256" name="Google Shape;256;p36">
            <a:extLst>
              <a:ext uri="{FF2B5EF4-FFF2-40B4-BE49-F238E27FC236}">
                <a16:creationId xmlns:a16="http://schemas.microsoft.com/office/drawing/2014/main" id="{8F0DFF13-E1F3-A7E5-1C10-73ECCD5943B6}"/>
              </a:ext>
            </a:extLst>
          </p:cNvPr>
          <p:cNvSpPr txBox="1"/>
          <p:nvPr/>
        </p:nvSpPr>
        <p:spPr>
          <a:xfrm>
            <a:off x="923700" y="48950"/>
            <a:ext cx="7296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1" dirty="0">
                <a:solidFill>
                  <a:srgbClr val="ED743E"/>
                </a:solidFill>
                <a:latin typeface="Montserrat"/>
                <a:ea typeface="Montserrat"/>
                <a:cs typeface="Montserrat"/>
                <a:sym typeface="Montserrat"/>
              </a:rPr>
              <a:t>PIPELINE DE MODÉLISATION COMPLET CIBLE</a:t>
            </a:r>
            <a:endParaRPr sz="2000" b="1" dirty="0">
              <a:solidFill>
                <a:srgbClr val="ED743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7" name="Google Shape;257;p36">
            <a:extLst>
              <a:ext uri="{FF2B5EF4-FFF2-40B4-BE49-F238E27FC236}">
                <a16:creationId xmlns:a16="http://schemas.microsoft.com/office/drawing/2014/main" id="{04DE509A-2E99-9A8F-19D4-3A468E4332AC}"/>
              </a:ext>
            </a:extLst>
          </p:cNvPr>
          <p:cNvSpPr txBox="1"/>
          <p:nvPr/>
        </p:nvSpPr>
        <p:spPr>
          <a:xfrm>
            <a:off x="8220300" y="4697025"/>
            <a:ext cx="741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pic>
        <p:nvPicPr>
          <p:cNvPr id="5" name="Google Shape;261;p36">
            <a:extLst>
              <a:ext uri="{FF2B5EF4-FFF2-40B4-BE49-F238E27FC236}">
                <a16:creationId xmlns:a16="http://schemas.microsoft.com/office/drawing/2014/main" id="{D743DBF5-94E8-3D35-BD69-144F85CD320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4852" y="1242577"/>
            <a:ext cx="278375" cy="239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60;p36">
            <a:extLst>
              <a:ext uri="{FF2B5EF4-FFF2-40B4-BE49-F238E27FC236}">
                <a16:creationId xmlns:a16="http://schemas.microsoft.com/office/drawing/2014/main" id="{27A4FAFA-48BF-686C-D175-285F863A674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21705" y="1054454"/>
            <a:ext cx="284569" cy="239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262;p36">
            <a:extLst>
              <a:ext uri="{FF2B5EF4-FFF2-40B4-BE49-F238E27FC236}">
                <a16:creationId xmlns:a16="http://schemas.microsoft.com/office/drawing/2014/main" id="{4554A508-3AA5-2A54-1CCE-E05D8F796004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07453" y="1064667"/>
            <a:ext cx="631725" cy="146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263;p36">
            <a:extLst>
              <a:ext uri="{FF2B5EF4-FFF2-40B4-BE49-F238E27FC236}">
                <a16:creationId xmlns:a16="http://schemas.microsoft.com/office/drawing/2014/main" id="{442890C2-ABB4-FB81-9A33-4EFF811CE66B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06210" y="1907320"/>
            <a:ext cx="440300" cy="198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268;p36">
            <a:extLst>
              <a:ext uri="{FF2B5EF4-FFF2-40B4-BE49-F238E27FC236}">
                <a16:creationId xmlns:a16="http://schemas.microsoft.com/office/drawing/2014/main" id="{159A8302-C623-C068-C139-A63BA4AF7BE9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26138" y="1867711"/>
            <a:ext cx="234794" cy="198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265;p36">
            <a:extLst>
              <a:ext uri="{FF2B5EF4-FFF2-40B4-BE49-F238E27FC236}">
                <a16:creationId xmlns:a16="http://schemas.microsoft.com/office/drawing/2014/main" id="{AA1BF0E0-0AA7-59A3-3DA6-C37E6C50B40A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357839" y="3529788"/>
            <a:ext cx="337525" cy="111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274;p36">
            <a:extLst>
              <a:ext uri="{FF2B5EF4-FFF2-40B4-BE49-F238E27FC236}">
                <a16:creationId xmlns:a16="http://schemas.microsoft.com/office/drawing/2014/main" id="{5DA2D5E6-DDF0-24BB-BA6A-70C2AD2FD169}"/>
              </a:ext>
            </a:extLst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545862" y="3099375"/>
            <a:ext cx="400446" cy="111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273;p36">
            <a:extLst>
              <a:ext uri="{FF2B5EF4-FFF2-40B4-BE49-F238E27FC236}">
                <a16:creationId xmlns:a16="http://schemas.microsoft.com/office/drawing/2014/main" id="{1826CADB-E43A-D8DF-F149-08E8845C2521}"/>
              </a:ext>
            </a:extLst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446834" y="2920175"/>
            <a:ext cx="259599" cy="111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63;p36">
            <a:extLst>
              <a:ext uri="{FF2B5EF4-FFF2-40B4-BE49-F238E27FC236}">
                <a16:creationId xmlns:a16="http://schemas.microsoft.com/office/drawing/2014/main" id="{2E692780-4CF3-86D2-A2CD-1D268CC679B8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27899" y="2686018"/>
            <a:ext cx="278375" cy="127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68;p36">
            <a:extLst>
              <a:ext uri="{FF2B5EF4-FFF2-40B4-BE49-F238E27FC236}">
                <a16:creationId xmlns:a16="http://schemas.microsoft.com/office/drawing/2014/main" id="{539BFEF8-9015-DB1D-CCA8-BA268B3F83FD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54172" y="3006209"/>
            <a:ext cx="218228" cy="20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62;p36">
            <a:extLst>
              <a:ext uri="{FF2B5EF4-FFF2-40B4-BE49-F238E27FC236}">
                <a16:creationId xmlns:a16="http://schemas.microsoft.com/office/drawing/2014/main" id="{33D21589-5A51-07B2-3369-BC2133BA45FD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51383" y="4735112"/>
            <a:ext cx="631725" cy="146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68;p36">
            <a:extLst>
              <a:ext uri="{FF2B5EF4-FFF2-40B4-BE49-F238E27FC236}">
                <a16:creationId xmlns:a16="http://schemas.microsoft.com/office/drawing/2014/main" id="{86349E44-B8D3-48F4-53CE-1884D3915FB8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864289" y="3905368"/>
            <a:ext cx="278375" cy="25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73;p36">
            <a:extLst>
              <a:ext uri="{FF2B5EF4-FFF2-40B4-BE49-F238E27FC236}">
                <a16:creationId xmlns:a16="http://schemas.microsoft.com/office/drawing/2014/main" id="{E477DF61-B886-FD68-D5C0-09B851B551B8}"/>
              </a:ext>
            </a:extLst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971982" y="3810150"/>
            <a:ext cx="259599" cy="111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268;p36">
            <a:extLst>
              <a:ext uri="{FF2B5EF4-FFF2-40B4-BE49-F238E27FC236}">
                <a16:creationId xmlns:a16="http://schemas.microsoft.com/office/drawing/2014/main" id="{48DCA2DB-9B6B-3221-0760-3B703D407AC7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787542" y="3529788"/>
            <a:ext cx="278375" cy="25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274;p36">
            <a:extLst>
              <a:ext uri="{FF2B5EF4-FFF2-40B4-BE49-F238E27FC236}">
                <a16:creationId xmlns:a16="http://schemas.microsoft.com/office/drawing/2014/main" id="{D9203CBD-AB92-EFC3-876D-C2587171AC9F}"/>
              </a:ext>
            </a:extLst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05987" y="3509603"/>
            <a:ext cx="400446" cy="111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275;p36">
            <a:extLst>
              <a:ext uri="{FF2B5EF4-FFF2-40B4-BE49-F238E27FC236}">
                <a16:creationId xmlns:a16="http://schemas.microsoft.com/office/drawing/2014/main" id="{138C203E-EC92-E01E-5C3C-D246B1EF358E}"/>
              </a:ext>
            </a:extLst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347094" y="4550852"/>
            <a:ext cx="449812" cy="251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Image 36">
            <a:extLst>
              <a:ext uri="{FF2B5EF4-FFF2-40B4-BE49-F238E27FC236}">
                <a16:creationId xmlns:a16="http://schemas.microsoft.com/office/drawing/2014/main" id="{2B7982BE-7C29-B638-1A63-DC56FAD0792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88460" y="1907320"/>
            <a:ext cx="158901" cy="158901"/>
          </a:xfrm>
          <a:prstGeom prst="rect">
            <a:avLst/>
          </a:prstGeom>
        </p:spPr>
      </p:pic>
      <p:pic>
        <p:nvPicPr>
          <p:cNvPr id="39" name="Image 38">
            <a:extLst>
              <a:ext uri="{FF2B5EF4-FFF2-40B4-BE49-F238E27FC236}">
                <a16:creationId xmlns:a16="http://schemas.microsoft.com/office/drawing/2014/main" id="{2D853C1E-98D4-204E-8E42-84D505DA0F1B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13007" t="28189" r="13252" b="32911"/>
          <a:stretch>
            <a:fillRect/>
          </a:stretch>
        </p:blipFill>
        <p:spPr>
          <a:xfrm>
            <a:off x="5750270" y="1867710"/>
            <a:ext cx="446655" cy="122733"/>
          </a:xfrm>
          <a:prstGeom prst="rect">
            <a:avLst/>
          </a:prstGeom>
        </p:spPr>
      </p:pic>
      <p:pic>
        <p:nvPicPr>
          <p:cNvPr id="41" name="Image 40">
            <a:extLst>
              <a:ext uri="{FF2B5EF4-FFF2-40B4-BE49-F238E27FC236}">
                <a16:creationId xmlns:a16="http://schemas.microsoft.com/office/drawing/2014/main" id="{E180C60E-9086-EEFC-2C18-067C6E36F2E1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13007" t="28189" r="13252" b="32911"/>
          <a:stretch>
            <a:fillRect/>
          </a:stretch>
        </p:blipFill>
        <p:spPr>
          <a:xfrm>
            <a:off x="7373298" y="1853299"/>
            <a:ext cx="551542" cy="151554"/>
          </a:xfrm>
          <a:prstGeom prst="rect">
            <a:avLst/>
          </a:prstGeom>
        </p:spPr>
      </p:pic>
      <p:pic>
        <p:nvPicPr>
          <p:cNvPr id="43" name="Image 42">
            <a:extLst>
              <a:ext uri="{FF2B5EF4-FFF2-40B4-BE49-F238E27FC236}">
                <a16:creationId xmlns:a16="http://schemas.microsoft.com/office/drawing/2014/main" id="{62C3D3DF-9F1A-4FF5-B392-6E691F628A98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13007" t="28189" r="13252" b="32911"/>
          <a:stretch>
            <a:fillRect/>
          </a:stretch>
        </p:blipFill>
        <p:spPr>
          <a:xfrm>
            <a:off x="4105458" y="3518798"/>
            <a:ext cx="551542" cy="151554"/>
          </a:xfrm>
          <a:prstGeom prst="rect">
            <a:avLst/>
          </a:prstGeom>
        </p:spPr>
      </p:pic>
      <p:pic>
        <p:nvPicPr>
          <p:cNvPr id="53" name="Google Shape;262;p36">
            <a:extLst>
              <a:ext uri="{FF2B5EF4-FFF2-40B4-BE49-F238E27FC236}">
                <a16:creationId xmlns:a16="http://schemas.microsoft.com/office/drawing/2014/main" id="{89163988-6311-0146-130C-00FA39BBCCD0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9170" y="3669729"/>
            <a:ext cx="524239" cy="111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Image 54">
            <a:extLst>
              <a:ext uri="{FF2B5EF4-FFF2-40B4-BE49-F238E27FC236}">
                <a16:creationId xmlns:a16="http://schemas.microsoft.com/office/drawing/2014/main" id="{9B73D49C-5616-D9F9-865A-9B5EF5CFD8C8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9509" t="25304" r="9987" b="25304"/>
          <a:stretch>
            <a:fillRect/>
          </a:stretch>
        </p:blipFill>
        <p:spPr>
          <a:xfrm>
            <a:off x="5839053" y="2227094"/>
            <a:ext cx="362430" cy="111184"/>
          </a:xfrm>
          <a:prstGeom prst="rect">
            <a:avLst/>
          </a:prstGeom>
        </p:spPr>
      </p:pic>
      <p:pic>
        <p:nvPicPr>
          <p:cNvPr id="57" name="Image 56">
            <a:extLst>
              <a:ext uri="{FF2B5EF4-FFF2-40B4-BE49-F238E27FC236}">
                <a16:creationId xmlns:a16="http://schemas.microsoft.com/office/drawing/2014/main" id="{AC770C48-455A-5C29-52D3-6F24259581E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17407" y="1244475"/>
            <a:ext cx="194507" cy="224288"/>
          </a:xfrm>
          <a:prstGeom prst="rect">
            <a:avLst/>
          </a:prstGeom>
        </p:spPr>
      </p:pic>
      <p:pic>
        <p:nvPicPr>
          <p:cNvPr id="59" name="Image 58">
            <a:extLst>
              <a:ext uri="{FF2B5EF4-FFF2-40B4-BE49-F238E27FC236}">
                <a16:creationId xmlns:a16="http://schemas.microsoft.com/office/drawing/2014/main" id="{DF1C1E67-A1F5-D6B2-F38A-3739004B401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952926" y="1081944"/>
            <a:ext cx="523852" cy="92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496525"/>
      </p:ext>
    </p:extLst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1054</TotalTime>
  <Words>401</Words>
  <Application>Microsoft Office PowerPoint</Application>
  <PresentationFormat>Affichage à l'écran (16:9)</PresentationFormat>
  <Paragraphs>80</Paragraphs>
  <Slides>12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12</vt:i4>
      </vt:variant>
    </vt:vector>
  </HeadingPairs>
  <TitlesOfParts>
    <vt:vector size="18" baseType="lpstr">
      <vt:lpstr>Calibri</vt:lpstr>
      <vt:lpstr>Barlow</vt:lpstr>
      <vt:lpstr>Montserrat</vt:lpstr>
      <vt:lpstr>Arial</vt:lpstr>
      <vt:lpstr>Simple Light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Vartkirl</dc:creator>
  <cp:lastModifiedBy>Antoine C</cp:lastModifiedBy>
  <cp:revision>24</cp:revision>
  <dcterms:modified xsi:type="dcterms:W3CDTF">2026-06-29T14:09:42Z</dcterms:modified>
</cp:coreProperties>
</file>